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75" r:id="rId4"/>
    <p:sldId id="261" r:id="rId5"/>
    <p:sldId id="262" r:id="rId6"/>
    <p:sldId id="263" r:id="rId7"/>
    <p:sldId id="264" r:id="rId8"/>
    <p:sldId id="265" r:id="rId9"/>
    <p:sldId id="266" r:id="rId10"/>
    <p:sldId id="267" r:id="rId11"/>
    <p:sldId id="268" r:id="rId12"/>
    <p:sldId id="269" r:id="rId13"/>
    <p:sldId id="270" r:id="rId14"/>
    <p:sldId id="273" r:id="rId15"/>
    <p:sldId id="274"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0941" autoAdjust="0"/>
  </p:normalViewPr>
  <p:slideViewPr>
    <p:cSldViewPr snapToGrid="0" snapToObjects="1">
      <p:cViewPr varScale="1">
        <p:scale>
          <a:sx n="51" d="100"/>
          <a:sy n="51" d="100"/>
        </p:scale>
        <p:origin x="187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903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920682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4F6C"/>
        </a:solidFill>
        <a:effectLst/>
      </p:bgPr>
    </p:bg>
    <p:spTree>
      <p:nvGrpSpPr>
        <p:cNvPr id="1" name=""/>
        <p:cNvGrpSpPr/>
        <p:nvPr/>
      </p:nvGrpSpPr>
      <p:grpSpPr>
        <a:xfrm>
          <a:off x="0" y="0"/>
          <a:ext cx="0" cy="0"/>
          <a:chOff x="0" y="0"/>
          <a:chExt cx="0" cy="0"/>
        </a:xfrm>
      </p:grpSpPr>
      <p:sp>
        <p:nvSpPr>
          <p:cNvPr id="2" name="Shape 0"/>
          <p:cNvSpPr/>
          <p:nvPr/>
        </p:nvSpPr>
        <p:spPr>
          <a:xfrm>
            <a:off x="10744200" y="502920"/>
            <a:ext cx="640080" cy="365760"/>
          </a:xfrm>
          <a:prstGeom prst="line">
            <a:avLst/>
          </a:prstGeom>
          <a:noFill/>
          <a:ln w="12700">
            <a:solidFill>
              <a:srgbClr val="BFE0EA">
                <a:alpha val="55000"/>
              </a:srgbClr>
            </a:solidFill>
            <a:prstDash val="solid"/>
          </a:ln>
        </p:spPr>
      </p:sp>
      <p:sp>
        <p:nvSpPr>
          <p:cNvPr id="3" name="Shape 1"/>
          <p:cNvSpPr/>
          <p:nvPr/>
        </p:nvSpPr>
        <p:spPr>
          <a:xfrm flipH="1">
            <a:off x="10972800" y="868680"/>
            <a:ext cx="411480" cy="502920"/>
          </a:xfrm>
          <a:prstGeom prst="line">
            <a:avLst/>
          </a:prstGeom>
          <a:noFill/>
          <a:ln w="12700">
            <a:solidFill>
              <a:srgbClr val="BFE0EA">
                <a:alpha val="55000"/>
              </a:srgbClr>
            </a:solidFill>
            <a:prstDash val="solid"/>
          </a:ln>
        </p:spPr>
      </p:sp>
      <p:sp>
        <p:nvSpPr>
          <p:cNvPr id="4" name="Shape 2"/>
          <p:cNvSpPr/>
          <p:nvPr/>
        </p:nvSpPr>
        <p:spPr>
          <a:xfrm>
            <a:off x="10972800" y="1371600"/>
            <a:ext cx="685800" cy="228600"/>
          </a:xfrm>
          <a:prstGeom prst="line">
            <a:avLst/>
          </a:prstGeom>
          <a:noFill/>
          <a:ln w="12700">
            <a:solidFill>
              <a:srgbClr val="BFE0EA">
                <a:alpha val="55000"/>
              </a:srgbClr>
            </a:solidFill>
            <a:prstDash val="solid"/>
          </a:ln>
        </p:spPr>
      </p:sp>
      <p:sp>
        <p:nvSpPr>
          <p:cNvPr id="5" name="Shape 3"/>
          <p:cNvSpPr/>
          <p:nvPr/>
        </p:nvSpPr>
        <p:spPr>
          <a:xfrm>
            <a:off x="10972800" y="1371600"/>
            <a:ext cx="137160" cy="777240"/>
          </a:xfrm>
          <a:prstGeom prst="line">
            <a:avLst/>
          </a:prstGeom>
          <a:noFill/>
          <a:ln w="12700">
            <a:solidFill>
              <a:srgbClr val="BFE0EA">
                <a:alpha val="55000"/>
              </a:srgbClr>
            </a:solidFill>
            <a:prstDash val="solid"/>
          </a:ln>
        </p:spPr>
      </p:sp>
      <p:sp>
        <p:nvSpPr>
          <p:cNvPr id="6" name="Shape 4"/>
          <p:cNvSpPr/>
          <p:nvPr/>
        </p:nvSpPr>
        <p:spPr>
          <a:xfrm>
            <a:off x="11109960" y="2148840"/>
            <a:ext cx="731520" cy="274320"/>
          </a:xfrm>
          <a:prstGeom prst="line">
            <a:avLst/>
          </a:prstGeom>
          <a:noFill/>
          <a:ln w="12700">
            <a:solidFill>
              <a:srgbClr val="BFE0EA">
                <a:alpha val="55000"/>
              </a:srgbClr>
            </a:solidFill>
            <a:prstDash val="solid"/>
          </a:ln>
        </p:spPr>
      </p:sp>
      <p:sp>
        <p:nvSpPr>
          <p:cNvPr id="7" name="Shape 5"/>
          <p:cNvSpPr/>
          <p:nvPr/>
        </p:nvSpPr>
        <p:spPr>
          <a:xfrm flipH="1">
            <a:off x="10561320" y="502920"/>
            <a:ext cx="182880" cy="1417320"/>
          </a:xfrm>
          <a:prstGeom prst="line">
            <a:avLst/>
          </a:prstGeom>
          <a:noFill/>
          <a:ln w="12700">
            <a:solidFill>
              <a:srgbClr val="BFE0EA">
                <a:alpha val="55000"/>
              </a:srgbClr>
            </a:solidFill>
            <a:prstDash val="solid"/>
          </a:ln>
        </p:spPr>
      </p:sp>
      <p:sp>
        <p:nvSpPr>
          <p:cNvPr id="8" name="Shape 6"/>
          <p:cNvSpPr/>
          <p:nvPr/>
        </p:nvSpPr>
        <p:spPr>
          <a:xfrm flipV="1">
            <a:off x="10561320" y="1371600"/>
            <a:ext cx="411480" cy="548640"/>
          </a:xfrm>
          <a:prstGeom prst="line">
            <a:avLst/>
          </a:prstGeom>
          <a:noFill/>
          <a:ln w="12700">
            <a:solidFill>
              <a:srgbClr val="BFE0EA">
                <a:alpha val="55000"/>
              </a:srgbClr>
            </a:solidFill>
            <a:prstDash val="solid"/>
          </a:ln>
        </p:spPr>
      </p:sp>
      <p:sp>
        <p:nvSpPr>
          <p:cNvPr id="9" name="Shape 7"/>
          <p:cNvSpPr/>
          <p:nvPr/>
        </p:nvSpPr>
        <p:spPr>
          <a:xfrm>
            <a:off x="10698480" y="457200"/>
            <a:ext cx="91440" cy="91440"/>
          </a:xfrm>
          <a:prstGeom prst="ellipse">
            <a:avLst/>
          </a:prstGeom>
          <a:solidFill>
            <a:srgbClr val="D98E32"/>
          </a:solidFill>
          <a:ln/>
        </p:spPr>
      </p:sp>
      <p:sp>
        <p:nvSpPr>
          <p:cNvPr id="10" name="Shape 8"/>
          <p:cNvSpPr/>
          <p:nvPr/>
        </p:nvSpPr>
        <p:spPr>
          <a:xfrm>
            <a:off x="11352276" y="836676"/>
            <a:ext cx="64008" cy="64008"/>
          </a:xfrm>
          <a:prstGeom prst="ellipse">
            <a:avLst/>
          </a:prstGeom>
          <a:solidFill>
            <a:srgbClr val="BFE0EA">
              <a:alpha val="45000"/>
            </a:srgbClr>
          </a:solidFill>
          <a:ln/>
        </p:spPr>
      </p:sp>
      <p:sp>
        <p:nvSpPr>
          <p:cNvPr id="11" name="Shape 9"/>
          <p:cNvSpPr/>
          <p:nvPr/>
        </p:nvSpPr>
        <p:spPr>
          <a:xfrm>
            <a:off x="10931652" y="1330452"/>
            <a:ext cx="82296" cy="82296"/>
          </a:xfrm>
          <a:prstGeom prst="ellipse">
            <a:avLst/>
          </a:prstGeom>
          <a:solidFill>
            <a:srgbClr val="D98E32"/>
          </a:solidFill>
          <a:ln/>
        </p:spPr>
      </p:sp>
      <p:sp>
        <p:nvSpPr>
          <p:cNvPr id="12" name="Shape 10"/>
          <p:cNvSpPr/>
          <p:nvPr/>
        </p:nvSpPr>
        <p:spPr>
          <a:xfrm>
            <a:off x="11631168" y="1572768"/>
            <a:ext cx="54864" cy="54864"/>
          </a:xfrm>
          <a:prstGeom prst="ellipse">
            <a:avLst/>
          </a:prstGeom>
          <a:solidFill>
            <a:srgbClr val="BFE0EA">
              <a:alpha val="45000"/>
            </a:srgbClr>
          </a:solidFill>
          <a:ln/>
        </p:spPr>
      </p:sp>
      <p:sp>
        <p:nvSpPr>
          <p:cNvPr id="13" name="Shape 11"/>
          <p:cNvSpPr/>
          <p:nvPr/>
        </p:nvSpPr>
        <p:spPr>
          <a:xfrm>
            <a:off x="11073384" y="2112264"/>
            <a:ext cx="73152" cy="73152"/>
          </a:xfrm>
          <a:prstGeom prst="ellipse">
            <a:avLst/>
          </a:prstGeom>
          <a:solidFill>
            <a:srgbClr val="BFE0EA">
              <a:alpha val="45000"/>
            </a:srgbClr>
          </a:solidFill>
          <a:ln/>
        </p:spPr>
      </p:sp>
      <p:sp>
        <p:nvSpPr>
          <p:cNvPr id="14" name="Shape 12"/>
          <p:cNvSpPr/>
          <p:nvPr/>
        </p:nvSpPr>
        <p:spPr>
          <a:xfrm>
            <a:off x="11809476" y="2391156"/>
            <a:ext cx="64008" cy="64008"/>
          </a:xfrm>
          <a:prstGeom prst="ellipse">
            <a:avLst/>
          </a:prstGeom>
          <a:solidFill>
            <a:srgbClr val="D98E32"/>
          </a:solidFill>
          <a:ln/>
        </p:spPr>
      </p:sp>
      <p:sp>
        <p:nvSpPr>
          <p:cNvPr id="15" name="Shape 13"/>
          <p:cNvSpPr/>
          <p:nvPr/>
        </p:nvSpPr>
        <p:spPr>
          <a:xfrm>
            <a:off x="10533888" y="1892808"/>
            <a:ext cx="54864" cy="54864"/>
          </a:xfrm>
          <a:prstGeom prst="ellipse">
            <a:avLst/>
          </a:prstGeom>
          <a:solidFill>
            <a:srgbClr val="BFE0EA">
              <a:alpha val="45000"/>
            </a:srgbClr>
          </a:solidFill>
          <a:ln/>
        </p:spPr>
      </p:sp>
      <p:sp>
        <p:nvSpPr>
          <p:cNvPr id="16" name="Shape 14"/>
          <p:cNvSpPr/>
          <p:nvPr/>
        </p:nvSpPr>
        <p:spPr>
          <a:xfrm>
            <a:off x="502920" y="5806440"/>
            <a:ext cx="457200" cy="365760"/>
          </a:xfrm>
          <a:prstGeom prst="line">
            <a:avLst/>
          </a:prstGeom>
          <a:noFill/>
          <a:ln w="12700">
            <a:solidFill>
              <a:srgbClr val="BFE0EA">
                <a:alpha val="55000"/>
              </a:srgbClr>
            </a:solidFill>
            <a:prstDash val="solid"/>
          </a:ln>
        </p:spPr>
      </p:sp>
      <p:sp>
        <p:nvSpPr>
          <p:cNvPr id="17" name="Shape 15"/>
          <p:cNvSpPr/>
          <p:nvPr/>
        </p:nvSpPr>
        <p:spPr>
          <a:xfrm flipH="1">
            <a:off x="685800" y="6172200"/>
            <a:ext cx="274320" cy="320040"/>
          </a:xfrm>
          <a:prstGeom prst="line">
            <a:avLst/>
          </a:prstGeom>
          <a:noFill/>
          <a:ln w="12700">
            <a:solidFill>
              <a:srgbClr val="BFE0EA">
                <a:alpha val="55000"/>
              </a:srgbClr>
            </a:solidFill>
            <a:prstDash val="solid"/>
          </a:ln>
        </p:spPr>
      </p:sp>
      <p:sp>
        <p:nvSpPr>
          <p:cNvPr id="18" name="Shape 16"/>
          <p:cNvSpPr/>
          <p:nvPr/>
        </p:nvSpPr>
        <p:spPr>
          <a:xfrm>
            <a:off x="960120" y="6172200"/>
            <a:ext cx="274320" cy="457200"/>
          </a:xfrm>
          <a:prstGeom prst="line">
            <a:avLst/>
          </a:prstGeom>
          <a:noFill/>
          <a:ln w="12700">
            <a:solidFill>
              <a:srgbClr val="BFE0EA">
                <a:alpha val="55000"/>
              </a:srgbClr>
            </a:solidFill>
            <a:prstDash val="solid"/>
          </a:ln>
        </p:spPr>
      </p:sp>
      <p:sp>
        <p:nvSpPr>
          <p:cNvPr id="19" name="Shape 17"/>
          <p:cNvSpPr/>
          <p:nvPr/>
        </p:nvSpPr>
        <p:spPr>
          <a:xfrm>
            <a:off x="466344" y="5769864"/>
            <a:ext cx="73152" cy="73152"/>
          </a:xfrm>
          <a:prstGeom prst="ellipse">
            <a:avLst/>
          </a:prstGeom>
          <a:solidFill>
            <a:srgbClr val="D98E32"/>
          </a:solidFill>
          <a:ln/>
        </p:spPr>
      </p:sp>
      <p:sp>
        <p:nvSpPr>
          <p:cNvPr id="20" name="Shape 18"/>
          <p:cNvSpPr/>
          <p:nvPr/>
        </p:nvSpPr>
        <p:spPr>
          <a:xfrm>
            <a:off x="932688" y="6144768"/>
            <a:ext cx="54864" cy="54864"/>
          </a:xfrm>
          <a:prstGeom prst="ellipse">
            <a:avLst/>
          </a:prstGeom>
          <a:solidFill>
            <a:srgbClr val="BFE0EA">
              <a:alpha val="45000"/>
            </a:srgbClr>
          </a:solidFill>
          <a:ln/>
        </p:spPr>
      </p:sp>
      <p:sp>
        <p:nvSpPr>
          <p:cNvPr id="21" name="Shape 19"/>
          <p:cNvSpPr/>
          <p:nvPr/>
        </p:nvSpPr>
        <p:spPr>
          <a:xfrm>
            <a:off x="653796" y="6460236"/>
            <a:ext cx="64008" cy="64008"/>
          </a:xfrm>
          <a:prstGeom prst="ellipse">
            <a:avLst/>
          </a:prstGeom>
          <a:solidFill>
            <a:srgbClr val="BFE0EA">
              <a:alpha val="45000"/>
            </a:srgbClr>
          </a:solidFill>
          <a:ln/>
        </p:spPr>
      </p:sp>
      <p:sp>
        <p:nvSpPr>
          <p:cNvPr id="22" name="Shape 20"/>
          <p:cNvSpPr/>
          <p:nvPr/>
        </p:nvSpPr>
        <p:spPr>
          <a:xfrm>
            <a:off x="1207008" y="6601968"/>
            <a:ext cx="54864" cy="54864"/>
          </a:xfrm>
          <a:prstGeom prst="ellipse">
            <a:avLst/>
          </a:prstGeom>
          <a:solidFill>
            <a:srgbClr val="D98E32"/>
          </a:solidFill>
          <a:ln/>
        </p:spPr>
      </p:sp>
      <p:sp>
        <p:nvSpPr>
          <p:cNvPr id="23" name="Text 21"/>
          <p:cNvSpPr/>
          <p:nvPr/>
        </p:nvSpPr>
        <p:spPr>
          <a:xfrm>
            <a:off x="822960" y="658368"/>
            <a:ext cx="10515600" cy="320040"/>
          </a:xfrm>
          <a:prstGeom prst="rect">
            <a:avLst/>
          </a:prstGeom>
          <a:noFill/>
          <a:ln/>
        </p:spPr>
        <p:txBody>
          <a:bodyPr wrap="square" rtlCol="0" anchor="ctr"/>
          <a:lstStyle/>
          <a:p>
            <a:pPr marL="0" indent="0">
              <a:buNone/>
            </a:pPr>
            <a:r>
              <a:rPr lang="en-US" sz="1300" b="1" kern="0" spc="150" dirty="0">
                <a:solidFill>
                  <a:srgbClr val="BFE0EA"/>
                </a:solidFill>
                <a:latin typeface="Times New Roman" pitchFamily="34" charset="0"/>
                <a:ea typeface="Times New Roman" pitchFamily="34" charset="-122"/>
                <a:cs typeface="Times New Roman" pitchFamily="34" charset="-120"/>
              </a:rPr>
              <a:t>ÉCOLE POLYTECHNIQUE DE THIÈS — DÉPARTEMENT GÉNIE INFORMATIQUE</a:t>
            </a:r>
            <a:endParaRPr lang="en-US" sz="1300" dirty="0"/>
          </a:p>
        </p:txBody>
      </p:sp>
      <p:sp>
        <p:nvSpPr>
          <p:cNvPr id="24" name="Text 22"/>
          <p:cNvSpPr/>
          <p:nvPr/>
        </p:nvSpPr>
        <p:spPr>
          <a:xfrm>
            <a:off x="822960" y="987552"/>
            <a:ext cx="10515600" cy="320040"/>
          </a:xfrm>
          <a:prstGeom prst="rect">
            <a:avLst/>
          </a:prstGeom>
          <a:noFill/>
          <a:ln/>
        </p:spPr>
        <p:txBody>
          <a:bodyPr wrap="square" rtlCol="0" anchor="ctr"/>
          <a:lstStyle/>
          <a:p>
            <a:pPr marL="0" indent="0">
              <a:buNone/>
            </a:pPr>
            <a:r>
              <a:rPr lang="en-US" sz="1300" dirty="0">
                <a:solidFill>
                  <a:srgbClr val="BFE0EA"/>
                </a:solidFill>
                <a:latin typeface="Times New Roman" pitchFamily="34" charset="0"/>
                <a:ea typeface="Times New Roman" pitchFamily="34" charset="-122"/>
                <a:cs typeface="Times New Roman" pitchFamily="34" charset="-120"/>
              </a:rPr>
              <a:t>Master Ingénierie Logicielle et Intelligence Artificielle (MILIA)</a:t>
            </a:r>
            <a:endParaRPr lang="en-US" sz="1300" dirty="0"/>
          </a:p>
        </p:txBody>
      </p:sp>
      <p:sp>
        <p:nvSpPr>
          <p:cNvPr id="25" name="Shape 23"/>
          <p:cNvSpPr/>
          <p:nvPr/>
        </p:nvSpPr>
        <p:spPr>
          <a:xfrm>
            <a:off x="822960" y="2212848"/>
            <a:ext cx="384048" cy="219456"/>
          </a:xfrm>
          <a:prstGeom prst="hexagon">
            <a:avLst/>
          </a:prstGeom>
          <a:solidFill>
            <a:srgbClr val="D98E32"/>
          </a:solidFill>
          <a:ln/>
        </p:spPr>
      </p:sp>
      <p:sp>
        <p:nvSpPr>
          <p:cNvPr id="26" name="Text 24"/>
          <p:cNvSpPr/>
          <p:nvPr/>
        </p:nvSpPr>
        <p:spPr>
          <a:xfrm>
            <a:off x="777240" y="2450592"/>
            <a:ext cx="10515600" cy="1234440"/>
          </a:xfrm>
          <a:prstGeom prst="rect">
            <a:avLst/>
          </a:prstGeom>
          <a:noFill/>
          <a:ln/>
        </p:spPr>
        <p:txBody>
          <a:bodyPr wrap="square" rtlCol="0" anchor="ctr"/>
          <a:lstStyle/>
          <a:p>
            <a:pPr marL="0" indent="0">
              <a:buNone/>
            </a:pPr>
            <a:r>
              <a:rPr lang="en-US" sz="6400" b="1" dirty="0">
                <a:solidFill>
                  <a:srgbClr val="FFFFFF"/>
                </a:solidFill>
                <a:latin typeface="Times New Roman" pitchFamily="34" charset="0"/>
                <a:ea typeface="Times New Roman" pitchFamily="34" charset="-122"/>
                <a:cs typeface="Times New Roman" pitchFamily="34" charset="-120"/>
              </a:rPr>
              <a:t>SIGMAE</a:t>
            </a:r>
            <a:endParaRPr lang="en-US" sz="6400" dirty="0"/>
          </a:p>
        </p:txBody>
      </p:sp>
      <p:sp>
        <p:nvSpPr>
          <p:cNvPr id="27" name="Text 25"/>
          <p:cNvSpPr/>
          <p:nvPr/>
        </p:nvSpPr>
        <p:spPr>
          <a:xfrm>
            <a:off x="822960" y="3584448"/>
            <a:ext cx="9875520" cy="640080"/>
          </a:xfrm>
          <a:prstGeom prst="rect">
            <a:avLst/>
          </a:prstGeom>
          <a:noFill/>
          <a:ln/>
        </p:spPr>
        <p:txBody>
          <a:bodyPr wrap="square" rtlCol="0" anchor="ctr"/>
          <a:lstStyle/>
          <a:p>
            <a:pPr marL="0" indent="0">
              <a:buNone/>
            </a:pPr>
            <a:r>
              <a:rPr lang="en-US" sz="1800" i="1" dirty="0">
                <a:solidFill>
                  <a:srgbClr val="BFE0EA"/>
                </a:solidFill>
                <a:latin typeface="Times New Roman" pitchFamily="34" charset="0"/>
                <a:ea typeface="Times New Roman" pitchFamily="34" charset="-122"/>
                <a:cs typeface="Times New Roman" pitchFamily="34" charset="-120"/>
              </a:rPr>
              <a:t>Système Intégré de Gestion des Marchés et Approvisionnements en Équipements</a:t>
            </a:r>
            <a:endParaRPr lang="en-US" sz="1800" dirty="0"/>
          </a:p>
        </p:txBody>
      </p:sp>
      <p:sp>
        <p:nvSpPr>
          <p:cNvPr id="28" name="Shape 26"/>
          <p:cNvSpPr/>
          <p:nvPr/>
        </p:nvSpPr>
        <p:spPr>
          <a:xfrm>
            <a:off x="822960" y="4434840"/>
            <a:ext cx="6858000" cy="475488"/>
          </a:xfrm>
          <a:prstGeom prst="roundRect">
            <a:avLst>
              <a:gd name="adj" fmla="val 50000"/>
            </a:avLst>
          </a:prstGeom>
          <a:solidFill>
            <a:srgbClr val="072538"/>
          </a:solidFill>
          <a:ln w="12700">
            <a:solidFill>
              <a:srgbClr val="D98E32"/>
            </a:solidFill>
            <a:prstDash val="solid"/>
          </a:ln>
        </p:spPr>
      </p:sp>
      <p:sp>
        <p:nvSpPr>
          <p:cNvPr id="29" name="Text 27"/>
          <p:cNvSpPr/>
          <p:nvPr/>
        </p:nvSpPr>
        <p:spPr>
          <a:xfrm>
            <a:off x="822960" y="4434840"/>
            <a:ext cx="6858000" cy="475488"/>
          </a:xfrm>
          <a:prstGeom prst="rect">
            <a:avLst/>
          </a:prstGeom>
          <a:noFill/>
          <a:ln/>
        </p:spPr>
        <p:txBody>
          <a:bodyPr wrap="square" rtlCol="0" anchor="ctr"/>
          <a:lstStyle/>
          <a:p>
            <a:pPr marL="0" indent="0" algn="ctr">
              <a:buNone/>
            </a:pPr>
            <a:r>
              <a:rPr lang="en-US" sz="1350" b="1" dirty="0" err="1">
                <a:solidFill>
                  <a:srgbClr val="FFFFFF"/>
                </a:solidFill>
                <a:latin typeface="Times New Roman" pitchFamily="34" charset="0"/>
                <a:ea typeface="Times New Roman" pitchFamily="34" charset="-122"/>
                <a:cs typeface="Times New Roman" pitchFamily="34" charset="-120"/>
              </a:rPr>
              <a:t>Modélisation</a:t>
            </a:r>
            <a:r>
              <a:rPr lang="en-US" sz="1350" b="1" dirty="0">
                <a:solidFill>
                  <a:srgbClr val="FFFFFF"/>
                </a:solidFill>
                <a:latin typeface="Times New Roman" pitchFamily="34" charset="0"/>
                <a:ea typeface="Times New Roman" pitchFamily="34" charset="-122"/>
                <a:cs typeface="Times New Roman" pitchFamily="34" charset="-120"/>
              </a:rPr>
              <a:t> UML </a:t>
            </a:r>
            <a:endParaRPr lang="en-US" sz="1350" dirty="0"/>
          </a:p>
        </p:txBody>
      </p:sp>
      <p:sp>
        <p:nvSpPr>
          <p:cNvPr id="30" name="Text 28"/>
          <p:cNvSpPr/>
          <p:nvPr/>
        </p:nvSpPr>
        <p:spPr>
          <a:xfrm>
            <a:off x="822960" y="5349240"/>
            <a:ext cx="8229600" cy="1188720"/>
          </a:xfrm>
          <a:prstGeom prst="rect">
            <a:avLst/>
          </a:prstGeom>
          <a:noFill/>
          <a:ln/>
        </p:spPr>
        <p:txBody>
          <a:bodyPr wrap="square" rtlCol="0" anchor="ctr"/>
          <a:lstStyle/>
          <a:p>
            <a:pPr marL="0" indent="0">
              <a:lnSpc>
                <a:spcPct val="135000"/>
              </a:lnSpc>
              <a:buNone/>
            </a:pPr>
            <a:r>
              <a:rPr lang="en-US" sz="1500" b="1" dirty="0">
                <a:solidFill>
                  <a:srgbClr val="BFE0EA"/>
                </a:solidFill>
                <a:latin typeface="Times New Roman" pitchFamily="34" charset="0"/>
                <a:ea typeface="Times New Roman" pitchFamily="34" charset="-122"/>
                <a:cs typeface="Times New Roman" pitchFamily="34" charset="-120"/>
              </a:rPr>
              <a:t>Réalisateurs : </a:t>
            </a:r>
            <a:r>
              <a:rPr lang="en-US" sz="1500" dirty="0">
                <a:solidFill>
                  <a:srgbClr val="FFFFFF"/>
                </a:solidFill>
                <a:latin typeface="Times New Roman" pitchFamily="34" charset="0"/>
                <a:ea typeface="Times New Roman" pitchFamily="34" charset="-122"/>
                <a:cs typeface="Times New Roman" pitchFamily="34" charset="-120"/>
              </a:rPr>
              <a:t>Fatou CAMARA · Moussa Mbacké NDOUR
</a:t>
            </a:r>
            <a:r>
              <a:rPr lang="en-US" sz="1500" b="1" dirty="0">
                <a:solidFill>
                  <a:srgbClr val="BFE0EA"/>
                </a:solidFill>
                <a:latin typeface="Times New Roman" pitchFamily="34" charset="0"/>
                <a:ea typeface="Times New Roman" pitchFamily="34" charset="-122"/>
                <a:cs typeface="Times New Roman" pitchFamily="34" charset="-120"/>
              </a:rPr>
              <a:t>Sous la direction de : </a:t>
            </a:r>
            <a:r>
              <a:rPr lang="en-US" sz="1500" dirty="0">
                <a:solidFill>
                  <a:srgbClr val="FFFFFF"/>
                </a:solidFill>
                <a:latin typeface="Times New Roman" pitchFamily="34" charset="0"/>
                <a:ea typeface="Times New Roman" pitchFamily="34" charset="-122"/>
                <a:cs typeface="Times New Roman" pitchFamily="34" charset="-120"/>
              </a:rPr>
              <a:t>Professeur GUISSE
</a:t>
            </a:r>
            <a:r>
              <a:rPr lang="en-US" sz="1500" i="1" dirty="0">
                <a:solidFill>
                  <a:srgbClr val="BFE0EA"/>
                </a:solidFill>
                <a:latin typeface="Times New Roman" pitchFamily="34" charset="0"/>
                <a:ea typeface="Times New Roman" pitchFamily="34" charset="-122"/>
                <a:cs typeface="Times New Roman" pitchFamily="34" charset="-120"/>
              </a:rPr>
              <a:t>Année académique 2025 –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144000" cy="292608"/>
          </a:xfrm>
          <a:prstGeom prst="rect">
            <a:avLst/>
          </a:prstGeom>
          <a:noFill/>
          <a:ln/>
        </p:spPr>
        <p:txBody>
          <a:bodyPr wrap="square" rtlCol="0" anchor="ctr"/>
          <a:lstStyle/>
          <a:p>
            <a:pPr marL="0" indent="0">
              <a:buNone/>
            </a:pPr>
            <a:r>
              <a:rPr lang="en-US" b="1" kern="0" spc="200" dirty="0">
                <a:solidFill>
                  <a:srgbClr val="D98E32"/>
                </a:solidFill>
                <a:latin typeface="Times New Roman" pitchFamily="34" charset="0"/>
                <a:ea typeface="Times New Roman" pitchFamily="34" charset="-122"/>
                <a:cs typeface="Times New Roman" pitchFamily="34" charset="-120"/>
              </a:rPr>
              <a:t>SOMMAIRE</a:t>
            </a:r>
            <a:endParaRPr lang="en-US" dirty="0"/>
          </a:p>
        </p:txBody>
      </p:sp>
      <p:sp>
        <p:nvSpPr>
          <p:cNvPr id="3" name="Text 1"/>
          <p:cNvSpPr/>
          <p:nvPr/>
        </p:nvSpPr>
        <p:spPr>
          <a:xfrm>
            <a:off x="530352" y="530352"/>
            <a:ext cx="10424160" cy="603504"/>
          </a:xfrm>
          <a:prstGeom prst="rect">
            <a:avLst/>
          </a:prstGeom>
          <a:noFill/>
          <a:ln/>
        </p:spPr>
        <p:txBody>
          <a:bodyPr wrap="square" rtlCol="0" anchor="ctr"/>
          <a:lstStyle/>
          <a:p>
            <a:pPr marL="0" indent="0">
              <a:buNone/>
            </a:pPr>
            <a:r>
              <a:rPr lang="en-US" sz="3200" b="1" dirty="0">
                <a:solidFill>
                  <a:srgbClr val="0B4F6C"/>
                </a:solidFill>
                <a:latin typeface="Times New Roman" pitchFamily="34" charset="0"/>
                <a:ea typeface="Times New Roman" pitchFamily="34" charset="-122"/>
                <a:cs typeface="Times New Roman" pitchFamily="34" charset="-120"/>
              </a:rPr>
              <a:t>Plan de la présentation</a:t>
            </a:r>
            <a:endParaRPr lang="en-US" sz="3200" dirty="0"/>
          </a:p>
        </p:txBody>
      </p:sp>
      <p:sp>
        <p:nvSpPr>
          <p:cNvPr id="4" name="Text 2"/>
          <p:cNvSpPr/>
          <p:nvPr/>
        </p:nvSpPr>
        <p:spPr>
          <a:xfrm>
            <a:off x="548640" y="1152144"/>
            <a:ext cx="10515600" cy="320040"/>
          </a:xfrm>
          <a:prstGeom prst="rect">
            <a:avLst/>
          </a:prstGeom>
          <a:noFill/>
          <a:ln/>
        </p:spPr>
        <p:txBody>
          <a:bodyPr wrap="square" rtlCol="0" anchor="ctr"/>
          <a:lstStyle/>
          <a:p>
            <a:pPr marL="0" indent="0">
              <a:buNone/>
            </a:pPr>
            <a:r>
              <a:rPr lang="en-US" sz="1400" i="1" dirty="0">
                <a:solidFill>
                  <a:srgbClr val="5C7480"/>
                </a:solidFill>
                <a:latin typeface="Times New Roman" pitchFamily="34" charset="0"/>
                <a:ea typeface="Times New Roman" pitchFamily="34" charset="-122"/>
                <a:cs typeface="Times New Roman" pitchFamily="34" charset="-120"/>
              </a:rPr>
              <a:t>Cahier de spécification technique — Partie II du dossier SIGMAE (sections 8 à 15)</a:t>
            </a:r>
            <a:endParaRPr lang="en-US" sz="1400" dirty="0"/>
          </a:p>
        </p:txBody>
      </p:sp>
      <p:sp>
        <p:nvSpPr>
          <p:cNvPr id="10" name="Shape 8"/>
          <p:cNvSpPr/>
          <p:nvPr/>
        </p:nvSpPr>
        <p:spPr>
          <a:xfrm>
            <a:off x="594980" y="3084844"/>
            <a:ext cx="5073680" cy="778672"/>
          </a:xfrm>
          <a:prstGeom prst="roundRect">
            <a:avLst>
              <a:gd name="adj" fmla="val 5769"/>
            </a:avLst>
          </a:prstGeom>
          <a:solidFill>
            <a:srgbClr val="EAF4F8"/>
          </a:solidFill>
          <a:ln/>
        </p:spPr>
      </p:sp>
      <p:sp>
        <p:nvSpPr>
          <p:cNvPr id="11" name="Shape 9"/>
          <p:cNvSpPr/>
          <p:nvPr/>
        </p:nvSpPr>
        <p:spPr>
          <a:xfrm>
            <a:off x="713232" y="3180856"/>
            <a:ext cx="365760" cy="310896"/>
          </a:xfrm>
          <a:prstGeom prst="hexagon">
            <a:avLst/>
          </a:prstGeom>
          <a:solidFill>
            <a:srgbClr val="FFFFFF"/>
          </a:solidFill>
          <a:ln w="15875">
            <a:solidFill>
              <a:srgbClr val="D98E32"/>
            </a:solidFill>
            <a:prstDash val="solid"/>
          </a:ln>
        </p:spPr>
      </p:sp>
      <p:sp>
        <p:nvSpPr>
          <p:cNvPr id="12" name="Text 10"/>
          <p:cNvSpPr/>
          <p:nvPr/>
        </p:nvSpPr>
        <p:spPr>
          <a:xfrm>
            <a:off x="716513" y="3200056"/>
            <a:ext cx="359198" cy="254566"/>
          </a:xfrm>
          <a:prstGeom prst="rect">
            <a:avLst/>
          </a:prstGeom>
          <a:noFill/>
          <a:ln/>
        </p:spPr>
        <p:txBody>
          <a:bodyPr wrap="square" rtlCol="0" anchor="ctr"/>
          <a:lstStyle/>
          <a:p>
            <a:pPr marL="0" indent="0" algn="ctr">
              <a:buNone/>
            </a:pPr>
            <a:r>
              <a:rPr lang="en-US" sz="1300" b="1" dirty="0">
                <a:solidFill>
                  <a:srgbClr val="0B4F6C"/>
                </a:solidFill>
                <a:latin typeface="Times New Roman" pitchFamily="34" charset="0"/>
                <a:ea typeface="Times New Roman" pitchFamily="34" charset="-122"/>
                <a:cs typeface="Times New Roman" pitchFamily="34" charset="-120"/>
              </a:rPr>
              <a:t>2</a:t>
            </a:r>
            <a:endParaRPr lang="en-US" sz="1300" dirty="0"/>
          </a:p>
        </p:txBody>
      </p:sp>
      <p:sp>
        <p:nvSpPr>
          <p:cNvPr id="13" name="Text 11"/>
          <p:cNvSpPr/>
          <p:nvPr/>
        </p:nvSpPr>
        <p:spPr>
          <a:xfrm>
            <a:off x="1272988" y="3092522"/>
            <a:ext cx="4220584" cy="269540"/>
          </a:xfrm>
          <a:prstGeom prst="rect">
            <a:avLst/>
          </a:prstGeom>
          <a:noFill/>
          <a:ln/>
        </p:spPr>
        <p:txBody>
          <a:bodyPr wrap="square" rtlCol="0" anchor="ctr"/>
          <a:lstStyle/>
          <a:p>
            <a:pPr marL="0" indent="0">
              <a:buNone/>
            </a:pPr>
            <a:r>
              <a:rPr lang="en-US" sz="1500" b="1" dirty="0">
                <a:solidFill>
                  <a:srgbClr val="0B4F6C"/>
                </a:solidFill>
                <a:latin typeface="Times New Roman" pitchFamily="34" charset="0"/>
                <a:ea typeface="Times New Roman" pitchFamily="34" charset="-122"/>
                <a:cs typeface="Times New Roman" pitchFamily="34" charset="-120"/>
              </a:rPr>
              <a:t>Diagramme de cas d'utilisation</a:t>
            </a:r>
            <a:endParaRPr lang="en-US" sz="1500" dirty="0"/>
          </a:p>
        </p:txBody>
      </p:sp>
      <p:sp>
        <p:nvSpPr>
          <p:cNvPr id="14" name="Text 12"/>
          <p:cNvSpPr/>
          <p:nvPr/>
        </p:nvSpPr>
        <p:spPr>
          <a:xfrm>
            <a:off x="1272988" y="3442447"/>
            <a:ext cx="4220584" cy="374362"/>
          </a:xfrm>
          <a:prstGeom prst="rect">
            <a:avLst/>
          </a:prstGeom>
          <a:noFill/>
          <a:ln/>
        </p:spPr>
        <p:txBody>
          <a:bodyPr wrap="square" rtlCol="0" anchor="ctr"/>
          <a:lstStyle/>
          <a:p>
            <a:pPr marL="0" indent="0">
              <a:buNone/>
            </a:pPr>
            <a:r>
              <a:rPr lang="en-US" sz="1200" dirty="0">
                <a:solidFill>
                  <a:srgbClr val="5C7480"/>
                </a:solidFill>
                <a:latin typeface="Times New Roman" pitchFamily="34" charset="0"/>
                <a:ea typeface="Times New Roman" pitchFamily="34" charset="-122"/>
                <a:cs typeface="Times New Roman" pitchFamily="34" charset="-120"/>
              </a:rPr>
              <a:t>8 acteurs, 17 cas d'utilisation</a:t>
            </a:r>
            <a:endParaRPr lang="en-US" sz="1200" dirty="0"/>
          </a:p>
        </p:txBody>
      </p:sp>
      <p:sp>
        <p:nvSpPr>
          <p:cNvPr id="15" name="Shape 13"/>
          <p:cNvSpPr/>
          <p:nvPr/>
        </p:nvSpPr>
        <p:spPr>
          <a:xfrm>
            <a:off x="548640" y="4087005"/>
            <a:ext cx="5166360" cy="950976"/>
          </a:xfrm>
          <a:prstGeom prst="roundRect">
            <a:avLst>
              <a:gd name="adj" fmla="val 5769"/>
            </a:avLst>
          </a:prstGeom>
          <a:solidFill>
            <a:srgbClr val="EAF4F8"/>
          </a:solidFill>
          <a:ln/>
        </p:spPr>
      </p:sp>
      <p:sp>
        <p:nvSpPr>
          <p:cNvPr id="16" name="Shape 14"/>
          <p:cNvSpPr/>
          <p:nvPr/>
        </p:nvSpPr>
        <p:spPr>
          <a:xfrm>
            <a:off x="713232" y="4224344"/>
            <a:ext cx="365760" cy="310896"/>
          </a:xfrm>
          <a:prstGeom prst="hexagon">
            <a:avLst/>
          </a:prstGeom>
          <a:solidFill>
            <a:srgbClr val="FFFFFF"/>
          </a:solidFill>
          <a:ln w="15875">
            <a:solidFill>
              <a:srgbClr val="D98E32"/>
            </a:solidFill>
            <a:prstDash val="solid"/>
          </a:ln>
        </p:spPr>
      </p:sp>
      <p:sp>
        <p:nvSpPr>
          <p:cNvPr id="18" name="Text 16"/>
          <p:cNvSpPr/>
          <p:nvPr/>
        </p:nvSpPr>
        <p:spPr>
          <a:xfrm>
            <a:off x="1234440" y="4142048"/>
            <a:ext cx="4297680" cy="329184"/>
          </a:xfrm>
          <a:prstGeom prst="rect">
            <a:avLst/>
          </a:prstGeom>
          <a:noFill/>
          <a:ln/>
        </p:spPr>
        <p:txBody>
          <a:bodyPr wrap="square" rtlCol="0" anchor="ctr"/>
          <a:lstStyle/>
          <a:p>
            <a:pPr marL="0" indent="0">
              <a:buNone/>
            </a:pPr>
            <a:r>
              <a:rPr lang="en-US" sz="1500" b="1" dirty="0">
                <a:solidFill>
                  <a:srgbClr val="0B4F6C"/>
                </a:solidFill>
                <a:latin typeface="Times New Roman" pitchFamily="34" charset="0"/>
                <a:ea typeface="Times New Roman" pitchFamily="34" charset="-122"/>
                <a:cs typeface="Times New Roman" pitchFamily="34" charset="-120"/>
              </a:rPr>
              <a:t>Modèle de domaine</a:t>
            </a:r>
            <a:endParaRPr lang="en-US" sz="1500" dirty="0"/>
          </a:p>
        </p:txBody>
      </p:sp>
      <p:sp>
        <p:nvSpPr>
          <p:cNvPr id="19" name="Text 17"/>
          <p:cNvSpPr/>
          <p:nvPr/>
        </p:nvSpPr>
        <p:spPr>
          <a:xfrm>
            <a:off x="1234440" y="4480376"/>
            <a:ext cx="4297680" cy="457200"/>
          </a:xfrm>
          <a:prstGeom prst="rect">
            <a:avLst/>
          </a:prstGeom>
          <a:noFill/>
          <a:ln/>
        </p:spPr>
        <p:txBody>
          <a:bodyPr wrap="square" rtlCol="0" anchor="ctr"/>
          <a:lstStyle/>
          <a:p>
            <a:pPr marL="0" indent="0">
              <a:buNone/>
            </a:pPr>
            <a:r>
              <a:rPr lang="en-US" sz="1200" dirty="0">
                <a:solidFill>
                  <a:srgbClr val="5C7480"/>
                </a:solidFill>
                <a:latin typeface="Times New Roman" pitchFamily="34" charset="0"/>
                <a:ea typeface="Times New Roman" pitchFamily="34" charset="-122"/>
                <a:cs typeface="Times New Roman" pitchFamily="34" charset="-120"/>
              </a:rPr>
              <a:t>Diagramme de classes — 5 zones de service</a:t>
            </a:r>
            <a:endParaRPr lang="en-US" sz="1200" dirty="0"/>
          </a:p>
        </p:txBody>
      </p:sp>
      <p:sp>
        <p:nvSpPr>
          <p:cNvPr id="20" name="Shape 18"/>
          <p:cNvSpPr/>
          <p:nvPr/>
        </p:nvSpPr>
        <p:spPr>
          <a:xfrm>
            <a:off x="5999178" y="1930094"/>
            <a:ext cx="5166360" cy="950976"/>
          </a:xfrm>
          <a:prstGeom prst="roundRect">
            <a:avLst>
              <a:gd name="adj" fmla="val 5769"/>
            </a:avLst>
          </a:prstGeom>
          <a:solidFill>
            <a:srgbClr val="EAF4F8"/>
          </a:solidFill>
          <a:ln/>
        </p:spPr>
      </p:sp>
      <p:sp>
        <p:nvSpPr>
          <p:cNvPr id="21" name="Shape 19"/>
          <p:cNvSpPr/>
          <p:nvPr/>
        </p:nvSpPr>
        <p:spPr>
          <a:xfrm>
            <a:off x="6163774" y="2103293"/>
            <a:ext cx="365760" cy="310896"/>
          </a:xfrm>
          <a:prstGeom prst="hexagon">
            <a:avLst/>
          </a:prstGeom>
          <a:solidFill>
            <a:srgbClr val="FFFFFF"/>
          </a:solidFill>
          <a:ln w="15875">
            <a:solidFill>
              <a:srgbClr val="D98E32"/>
            </a:solidFill>
            <a:prstDash val="solid"/>
          </a:ln>
        </p:spPr>
        <p:txBody>
          <a:bodyPr/>
          <a:lstStyle/>
          <a:p>
            <a:endParaRPr lang="fr-FR" dirty="0"/>
          </a:p>
        </p:txBody>
      </p:sp>
      <p:sp>
        <p:nvSpPr>
          <p:cNvPr id="22" name="Text 20"/>
          <p:cNvSpPr/>
          <p:nvPr/>
        </p:nvSpPr>
        <p:spPr>
          <a:xfrm>
            <a:off x="713232" y="4218971"/>
            <a:ext cx="365760" cy="310896"/>
          </a:xfrm>
          <a:prstGeom prst="rect">
            <a:avLst/>
          </a:prstGeom>
          <a:noFill/>
          <a:ln/>
        </p:spPr>
        <p:txBody>
          <a:bodyPr wrap="square" rtlCol="0" anchor="ctr"/>
          <a:lstStyle/>
          <a:p>
            <a:pPr marL="0" indent="0" algn="ctr">
              <a:buNone/>
            </a:pPr>
            <a:r>
              <a:rPr lang="en-US" sz="1300" b="1" dirty="0">
                <a:solidFill>
                  <a:srgbClr val="0B4F6C"/>
                </a:solidFill>
                <a:latin typeface="Times New Roman" pitchFamily="34" charset="0"/>
                <a:ea typeface="Times New Roman" pitchFamily="34" charset="-122"/>
                <a:cs typeface="Times New Roman" pitchFamily="34" charset="-120"/>
              </a:rPr>
              <a:t>3</a:t>
            </a:r>
            <a:endParaRPr lang="en-US" sz="1300" dirty="0"/>
          </a:p>
        </p:txBody>
      </p:sp>
      <p:sp>
        <p:nvSpPr>
          <p:cNvPr id="23" name="Text 21"/>
          <p:cNvSpPr/>
          <p:nvPr/>
        </p:nvSpPr>
        <p:spPr>
          <a:xfrm>
            <a:off x="6684978" y="2020997"/>
            <a:ext cx="4297680" cy="329184"/>
          </a:xfrm>
          <a:prstGeom prst="rect">
            <a:avLst/>
          </a:prstGeom>
          <a:noFill/>
          <a:ln/>
        </p:spPr>
        <p:txBody>
          <a:bodyPr wrap="square" rtlCol="0" anchor="ctr"/>
          <a:lstStyle/>
          <a:p>
            <a:pPr marL="0" indent="0">
              <a:buNone/>
            </a:pPr>
            <a:r>
              <a:rPr lang="en-US" sz="1500" b="1" dirty="0">
                <a:solidFill>
                  <a:srgbClr val="0B4F6C"/>
                </a:solidFill>
                <a:latin typeface="Times New Roman" pitchFamily="34" charset="0"/>
                <a:ea typeface="Times New Roman" pitchFamily="34" charset="-122"/>
                <a:cs typeface="Times New Roman" pitchFamily="34" charset="-120"/>
              </a:rPr>
              <a:t>Cycle de vie d'un marché</a:t>
            </a:r>
            <a:endParaRPr lang="en-US" sz="1500" dirty="0"/>
          </a:p>
        </p:txBody>
      </p:sp>
      <p:sp>
        <p:nvSpPr>
          <p:cNvPr id="24" name="Text 22"/>
          <p:cNvSpPr/>
          <p:nvPr/>
        </p:nvSpPr>
        <p:spPr>
          <a:xfrm>
            <a:off x="6684978" y="2359325"/>
            <a:ext cx="4297680" cy="457200"/>
          </a:xfrm>
          <a:prstGeom prst="rect">
            <a:avLst/>
          </a:prstGeom>
          <a:noFill/>
          <a:ln/>
        </p:spPr>
        <p:txBody>
          <a:bodyPr wrap="square" rtlCol="0" anchor="ctr"/>
          <a:lstStyle/>
          <a:p>
            <a:pPr marL="0" indent="0">
              <a:buNone/>
            </a:pPr>
            <a:r>
              <a:rPr lang="en-US" sz="1200" dirty="0">
                <a:solidFill>
                  <a:srgbClr val="5C7480"/>
                </a:solidFill>
                <a:latin typeface="Times New Roman" pitchFamily="34" charset="0"/>
                <a:ea typeface="Times New Roman" pitchFamily="34" charset="-122"/>
                <a:cs typeface="Times New Roman" pitchFamily="34" charset="-120"/>
              </a:rPr>
              <a:t>Diagramme d'états — 10 états</a:t>
            </a:r>
            <a:endParaRPr lang="en-US" sz="1200" dirty="0"/>
          </a:p>
        </p:txBody>
      </p:sp>
      <p:sp>
        <p:nvSpPr>
          <p:cNvPr id="25" name="Shape 23"/>
          <p:cNvSpPr/>
          <p:nvPr/>
        </p:nvSpPr>
        <p:spPr>
          <a:xfrm>
            <a:off x="5989320" y="3004073"/>
            <a:ext cx="5166360" cy="950976"/>
          </a:xfrm>
          <a:prstGeom prst="roundRect">
            <a:avLst>
              <a:gd name="adj" fmla="val 5769"/>
            </a:avLst>
          </a:prstGeom>
          <a:solidFill>
            <a:srgbClr val="EAF4F8"/>
          </a:solidFill>
          <a:ln/>
        </p:spPr>
      </p:sp>
      <p:sp>
        <p:nvSpPr>
          <p:cNvPr id="26" name="Shape 24"/>
          <p:cNvSpPr/>
          <p:nvPr/>
        </p:nvSpPr>
        <p:spPr>
          <a:xfrm>
            <a:off x="6153912" y="3168308"/>
            <a:ext cx="365760" cy="310896"/>
          </a:xfrm>
          <a:prstGeom prst="hexagon">
            <a:avLst/>
          </a:prstGeom>
          <a:solidFill>
            <a:srgbClr val="FFFFFF"/>
          </a:solidFill>
          <a:ln w="15875">
            <a:solidFill>
              <a:srgbClr val="D98E32"/>
            </a:solidFill>
            <a:prstDash val="solid"/>
          </a:ln>
        </p:spPr>
      </p:sp>
      <p:sp>
        <p:nvSpPr>
          <p:cNvPr id="27" name="Text 25"/>
          <p:cNvSpPr/>
          <p:nvPr/>
        </p:nvSpPr>
        <p:spPr>
          <a:xfrm>
            <a:off x="6153912" y="3132452"/>
            <a:ext cx="365760" cy="310896"/>
          </a:xfrm>
          <a:prstGeom prst="rect">
            <a:avLst/>
          </a:prstGeom>
          <a:noFill/>
          <a:ln/>
        </p:spPr>
        <p:txBody>
          <a:bodyPr wrap="square" rtlCol="0" anchor="ctr"/>
          <a:lstStyle/>
          <a:p>
            <a:pPr marL="0" indent="0" algn="ctr">
              <a:buNone/>
            </a:pPr>
            <a:r>
              <a:rPr lang="en-US" sz="1300" b="1" dirty="0">
                <a:solidFill>
                  <a:srgbClr val="0B4F6C"/>
                </a:solidFill>
                <a:latin typeface="Times New Roman" pitchFamily="34" charset="0"/>
                <a:ea typeface="Times New Roman" pitchFamily="34" charset="-122"/>
                <a:cs typeface="Times New Roman" pitchFamily="34" charset="-120"/>
              </a:rPr>
              <a:t>5</a:t>
            </a:r>
            <a:endParaRPr lang="en-US" sz="1300" dirty="0"/>
          </a:p>
        </p:txBody>
      </p:sp>
      <p:sp>
        <p:nvSpPr>
          <p:cNvPr id="28" name="Text 26"/>
          <p:cNvSpPr/>
          <p:nvPr/>
        </p:nvSpPr>
        <p:spPr>
          <a:xfrm>
            <a:off x="6675120" y="3068081"/>
            <a:ext cx="4297680" cy="329184"/>
          </a:xfrm>
          <a:prstGeom prst="rect">
            <a:avLst/>
          </a:prstGeom>
          <a:noFill/>
          <a:ln/>
        </p:spPr>
        <p:txBody>
          <a:bodyPr wrap="square" rtlCol="0" anchor="ctr"/>
          <a:lstStyle/>
          <a:p>
            <a:pPr marL="0" indent="0">
              <a:buNone/>
            </a:pPr>
            <a:r>
              <a:rPr lang="en-US" sz="1500" b="1" dirty="0">
                <a:solidFill>
                  <a:srgbClr val="0B4F6C"/>
                </a:solidFill>
                <a:latin typeface="Times New Roman" pitchFamily="34" charset="0"/>
                <a:ea typeface="Times New Roman" pitchFamily="34" charset="-122"/>
                <a:cs typeface="Times New Roman" pitchFamily="34" charset="-120"/>
              </a:rPr>
              <a:t>Diagrammes d'activité</a:t>
            </a:r>
            <a:endParaRPr lang="en-US" sz="1500" dirty="0"/>
          </a:p>
        </p:txBody>
      </p:sp>
      <p:sp>
        <p:nvSpPr>
          <p:cNvPr id="29" name="Text 27"/>
          <p:cNvSpPr/>
          <p:nvPr/>
        </p:nvSpPr>
        <p:spPr>
          <a:xfrm>
            <a:off x="6675120" y="3406409"/>
            <a:ext cx="4297680" cy="457200"/>
          </a:xfrm>
          <a:prstGeom prst="rect">
            <a:avLst/>
          </a:prstGeom>
          <a:noFill/>
          <a:ln/>
        </p:spPr>
        <p:txBody>
          <a:bodyPr wrap="square" rtlCol="0" anchor="ctr"/>
          <a:lstStyle/>
          <a:p>
            <a:pPr marL="0" indent="0">
              <a:buNone/>
            </a:pPr>
            <a:r>
              <a:rPr lang="en-US" sz="1200" dirty="0">
                <a:solidFill>
                  <a:srgbClr val="5C7480"/>
                </a:solidFill>
                <a:latin typeface="Times New Roman" pitchFamily="34" charset="0"/>
                <a:ea typeface="Times New Roman" pitchFamily="34" charset="-122"/>
                <a:cs typeface="Times New Roman" pitchFamily="34" charset="-120"/>
              </a:rPr>
              <a:t>Phase 1 : besoins · Phase 2 : attribution &amp; exécution</a:t>
            </a:r>
            <a:endParaRPr lang="en-US" sz="1200" dirty="0"/>
          </a:p>
        </p:txBody>
      </p:sp>
      <p:sp>
        <p:nvSpPr>
          <p:cNvPr id="30" name="Shape 28"/>
          <p:cNvSpPr/>
          <p:nvPr/>
        </p:nvSpPr>
        <p:spPr>
          <a:xfrm>
            <a:off x="5989320" y="4092388"/>
            <a:ext cx="5166360" cy="950976"/>
          </a:xfrm>
          <a:prstGeom prst="roundRect">
            <a:avLst>
              <a:gd name="adj" fmla="val 5769"/>
            </a:avLst>
          </a:prstGeom>
          <a:solidFill>
            <a:srgbClr val="EAF4F8"/>
          </a:solidFill>
          <a:ln/>
        </p:spPr>
      </p:sp>
      <p:sp>
        <p:nvSpPr>
          <p:cNvPr id="31" name="Shape 29"/>
          <p:cNvSpPr/>
          <p:nvPr/>
        </p:nvSpPr>
        <p:spPr>
          <a:xfrm>
            <a:off x="6153912" y="4238697"/>
            <a:ext cx="365760" cy="310896"/>
          </a:xfrm>
          <a:prstGeom prst="hexagon">
            <a:avLst/>
          </a:prstGeom>
          <a:solidFill>
            <a:srgbClr val="FFFFFF"/>
          </a:solidFill>
          <a:ln w="15875">
            <a:solidFill>
              <a:srgbClr val="D98E32"/>
            </a:solidFill>
            <a:prstDash val="solid"/>
          </a:ln>
        </p:spPr>
      </p:sp>
      <p:sp>
        <p:nvSpPr>
          <p:cNvPr id="32" name="Text 30"/>
          <p:cNvSpPr/>
          <p:nvPr/>
        </p:nvSpPr>
        <p:spPr>
          <a:xfrm>
            <a:off x="6153912" y="4256617"/>
            <a:ext cx="365760" cy="310896"/>
          </a:xfrm>
          <a:prstGeom prst="rect">
            <a:avLst/>
          </a:prstGeom>
          <a:noFill/>
          <a:ln/>
        </p:spPr>
        <p:txBody>
          <a:bodyPr wrap="square" rtlCol="0" anchor="ctr"/>
          <a:lstStyle/>
          <a:p>
            <a:pPr marL="0" indent="0" algn="ctr">
              <a:buNone/>
            </a:pPr>
            <a:r>
              <a:rPr lang="en-US" sz="1300" b="1" dirty="0">
                <a:solidFill>
                  <a:srgbClr val="0B4F6C"/>
                </a:solidFill>
                <a:latin typeface="Times New Roman" pitchFamily="34" charset="0"/>
                <a:ea typeface="Times New Roman" pitchFamily="34" charset="-122"/>
                <a:cs typeface="Times New Roman" pitchFamily="34" charset="-120"/>
              </a:rPr>
              <a:t>6</a:t>
            </a:r>
            <a:endParaRPr lang="en-US" sz="1300" dirty="0"/>
          </a:p>
        </p:txBody>
      </p:sp>
      <p:sp>
        <p:nvSpPr>
          <p:cNvPr id="33" name="Text 31"/>
          <p:cNvSpPr/>
          <p:nvPr/>
        </p:nvSpPr>
        <p:spPr>
          <a:xfrm>
            <a:off x="6675120" y="4156396"/>
            <a:ext cx="4297680" cy="329184"/>
          </a:xfrm>
          <a:prstGeom prst="rect">
            <a:avLst/>
          </a:prstGeom>
          <a:noFill/>
          <a:ln/>
        </p:spPr>
        <p:txBody>
          <a:bodyPr wrap="square" rtlCol="0" anchor="ctr"/>
          <a:lstStyle/>
          <a:p>
            <a:pPr marL="0" indent="0">
              <a:buNone/>
            </a:pPr>
            <a:r>
              <a:rPr lang="en-US" sz="1500" b="1" dirty="0">
                <a:solidFill>
                  <a:srgbClr val="0B4F6C"/>
                </a:solidFill>
                <a:latin typeface="Times New Roman" pitchFamily="34" charset="0"/>
                <a:ea typeface="Times New Roman" pitchFamily="34" charset="-122"/>
                <a:cs typeface="Times New Roman" pitchFamily="34" charset="-120"/>
              </a:rPr>
              <a:t>Diagrammes de séquence</a:t>
            </a:r>
            <a:endParaRPr lang="en-US" sz="1500" dirty="0"/>
          </a:p>
        </p:txBody>
      </p:sp>
      <p:sp>
        <p:nvSpPr>
          <p:cNvPr id="34" name="Text 32"/>
          <p:cNvSpPr/>
          <p:nvPr/>
        </p:nvSpPr>
        <p:spPr>
          <a:xfrm>
            <a:off x="6675120" y="4494724"/>
            <a:ext cx="4297680" cy="457200"/>
          </a:xfrm>
          <a:prstGeom prst="rect">
            <a:avLst/>
          </a:prstGeom>
          <a:noFill/>
          <a:ln/>
        </p:spPr>
        <p:txBody>
          <a:bodyPr wrap="square" rtlCol="0" anchor="ctr"/>
          <a:lstStyle/>
          <a:p>
            <a:pPr marL="0" indent="0">
              <a:buNone/>
            </a:pPr>
            <a:r>
              <a:rPr lang="en-US" sz="1200" dirty="0">
                <a:solidFill>
                  <a:srgbClr val="5C7480"/>
                </a:solidFill>
                <a:latin typeface="Times New Roman" pitchFamily="34" charset="0"/>
                <a:ea typeface="Times New Roman" pitchFamily="34" charset="-122"/>
                <a:cs typeface="Times New Roman" pitchFamily="34" charset="-120"/>
              </a:rPr>
              <a:t>3 scénarios métier détaillés</a:t>
            </a:r>
            <a:endParaRPr lang="en-US" sz="1200" dirty="0"/>
          </a:p>
        </p:txBody>
      </p:sp>
      <p:sp>
        <p:nvSpPr>
          <p:cNvPr id="45" name="Text 43"/>
          <p:cNvSpPr/>
          <p:nvPr/>
        </p:nvSpPr>
        <p:spPr>
          <a:xfrm>
            <a:off x="457200" y="6537780"/>
            <a:ext cx="7772400" cy="274320"/>
          </a:xfrm>
          <a:prstGeom prst="rect">
            <a:avLst/>
          </a:prstGeom>
          <a:noFill/>
          <a:ln/>
        </p:spPr>
        <p:txBody>
          <a:bodyPr wrap="square" rtlCol="0" anchor="ctr"/>
          <a:lstStyle/>
          <a:p>
            <a:pPr marL="0" indent="0" algn="l">
              <a:buNone/>
            </a:pPr>
            <a:r>
              <a:rPr lang="en-US" sz="1000" dirty="0">
                <a:solidFill>
                  <a:srgbClr val="5C7480"/>
                </a:solidFill>
                <a:latin typeface="Times New Roman" pitchFamily="34" charset="0"/>
                <a:ea typeface="Times New Roman" pitchFamily="34" charset="-122"/>
                <a:cs typeface="Times New Roman" pitchFamily="34" charset="-120"/>
              </a:rPr>
              <a:t>SIGMAE — Cahier de spécification technique · Modélisation UML</a:t>
            </a:r>
            <a:endParaRPr lang="en-US" sz="1000" dirty="0"/>
          </a:p>
        </p:txBody>
      </p:sp>
      <p:sp>
        <p:nvSpPr>
          <p:cNvPr id="46" name="Text 44"/>
          <p:cNvSpPr/>
          <p:nvPr/>
        </p:nvSpPr>
        <p:spPr>
          <a:xfrm>
            <a:off x="10241280" y="6528816"/>
            <a:ext cx="1490472" cy="274320"/>
          </a:xfrm>
          <a:prstGeom prst="rect">
            <a:avLst/>
          </a:prstGeom>
          <a:noFill/>
          <a:ln/>
        </p:spPr>
        <p:txBody>
          <a:bodyPr wrap="square" rtlCol="0" anchor="ctr"/>
          <a:lstStyle/>
          <a:p>
            <a:pPr marL="0" indent="0" algn="r">
              <a:buNone/>
            </a:pPr>
            <a:r>
              <a:rPr lang="en-US" sz="1000" dirty="0">
                <a:solidFill>
                  <a:srgbClr val="5C7480"/>
                </a:solidFill>
                <a:latin typeface="Times New Roman" pitchFamily="34" charset="0"/>
                <a:ea typeface="Times New Roman" pitchFamily="34" charset="-122"/>
                <a:cs typeface="Times New Roman" pitchFamily="34" charset="-120"/>
              </a:rPr>
              <a:t>2</a:t>
            </a:r>
            <a:endParaRPr lang="en-US" sz="1000" dirty="0"/>
          </a:p>
        </p:txBody>
      </p:sp>
      <p:sp>
        <p:nvSpPr>
          <p:cNvPr id="47" name="Text 15">
            <a:extLst>
              <a:ext uri="{FF2B5EF4-FFF2-40B4-BE49-F238E27FC236}">
                <a16:creationId xmlns:a16="http://schemas.microsoft.com/office/drawing/2014/main" id="{65588D91-986E-4D27-B2DB-7C98BDE119A3}"/>
              </a:ext>
            </a:extLst>
          </p:cNvPr>
          <p:cNvSpPr/>
          <p:nvPr/>
        </p:nvSpPr>
        <p:spPr>
          <a:xfrm>
            <a:off x="6163770" y="2081782"/>
            <a:ext cx="365760" cy="310896"/>
          </a:xfrm>
          <a:prstGeom prst="rect">
            <a:avLst/>
          </a:prstGeom>
          <a:noFill/>
          <a:ln/>
        </p:spPr>
        <p:txBody>
          <a:bodyPr wrap="square" rtlCol="0" anchor="ctr"/>
          <a:lstStyle/>
          <a:p>
            <a:pPr marL="0" indent="0" algn="ctr">
              <a:buNone/>
            </a:pPr>
            <a:r>
              <a:rPr lang="en-US" sz="1300" b="1" dirty="0">
                <a:solidFill>
                  <a:srgbClr val="0B4F6C"/>
                </a:solidFill>
                <a:latin typeface="Times New Roman" pitchFamily="34" charset="0"/>
                <a:cs typeface="Times New Roman" pitchFamily="34" charset="-120"/>
              </a:rPr>
              <a:t>4</a:t>
            </a:r>
            <a:endParaRPr lang="en-US" sz="1300" dirty="0"/>
          </a:p>
        </p:txBody>
      </p:sp>
      <p:sp>
        <p:nvSpPr>
          <p:cNvPr id="48" name="Shape 8">
            <a:extLst>
              <a:ext uri="{FF2B5EF4-FFF2-40B4-BE49-F238E27FC236}">
                <a16:creationId xmlns:a16="http://schemas.microsoft.com/office/drawing/2014/main" id="{1BC6A14B-C6A8-4B08-BE0D-5EE9630C99FC}"/>
              </a:ext>
            </a:extLst>
          </p:cNvPr>
          <p:cNvSpPr/>
          <p:nvPr/>
        </p:nvSpPr>
        <p:spPr>
          <a:xfrm>
            <a:off x="594977" y="1930094"/>
            <a:ext cx="5073680" cy="940225"/>
          </a:xfrm>
          <a:prstGeom prst="roundRect">
            <a:avLst>
              <a:gd name="adj" fmla="val 5769"/>
            </a:avLst>
          </a:prstGeom>
          <a:solidFill>
            <a:srgbClr val="EAF4F8"/>
          </a:solidFill>
          <a:ln/>
        </p:spPr>
      </p:sp>
      <p:sp>
        <p:nvSpPr>
          <p:cNvPr id="50" name="Text 11">
            <a:extLst>
              <a:ext uri="{FF2B5EF4-FFF2-40B4-BE49-F238E27FC236}">
                <a16:creationId xmlns:a16="http://schemas.microsoft.com/office/drawing/2014/main" id="{C00291C6-1A88-447F-9527-0120CBB2FBFC}"/>
              </a:ext>
            </a:extLst>
          </p:cNvPr>
          <p:cNvSpPr/>
          <p:nvPr/>
        </p:nvSpPr>
        <p:spPr>
          <a:xfrm>
            <a:off x="1272985" y="2007790"/>
            <a:ext cx="4220584" cy="269540"/>
          </a:xfrm>
          <a:prstGeom prst="rect">
            <a:avLst/>
          </a:prstGeom>
          <a:noFill/>
          <a:ln/>
        </p:spPr>
        <p:txBody>
          <a:bodyPr wrap="square" rtlCol="0" anchor="ctr"/>
          <a:lstStyle/>
          <a:p>
            <a:pPr marL="0" indent="0">
              <a:buNone/>
            </a:pPr>
            <a:r>
              <a:rPr lang="fr-FR" sz="1500" b="1" dirty="0">
                <a:solidFill>
                  <a:srgbClr val="0B4F6C"/>
                </a:solidFill>
                <a:latin typeface="Times New Roman" pitchFamily="34" charset="0"/>
                <a:cs typeface="Times New Roman" pitchFamily="34" charset="-120"/>
              </a:rPr>
              <a:t>Contexte</a:t>
            </a:r>
            <a:endParaRPr lang="fr-FR" sz="1500" dirty="0"/>
          </a:p>
        </p:txBody>
      </p:sp>
      <p:sp>
        <p:nvSpPr>
          <p:cNvPr id="51" name="Text 12">
            <a:extLst>
              <a:ext uri="{FF2B5EF4-FFF2-40B4-BE49-F238E27FC236}">
                <a16:creationId xmlns:a16="http://schemas.microsoft.com/office/drawing/2014/main" id="{4A232274-1C12-4775-A97A-628E5B795DB9}"/>
              </a:ext>
            </a:extLst>
          </p:cNvPr>
          <p:cNvSpPr/>
          <p:nvPr/>
        </p:nvSpPr>
        <p:spPr>
          <a:xfrm>
            <a:off x="1272985" y="2357715"/>
            <a:ext cx="4220584" cy="374362"/>
          </a:xfrm>
          <a:prstGeom prst="rect">
            <a:avLst/>
          </a:prstGeom>
          <a:noFill/>
          <a:ln/>
        </p:spPr>
        <p:txBody>
          <a:bodyPr wrap="square" rtlCol="0" anchor="ctr"/>
          <a:lstStyle/>
          <a:p>
            <a:pPr marL="0" indent="0">
              <a:buNone/>
            </a:pPr>
            <a:r>
              <a:rPr lang="en-US" sz="1200" dirty="0">
                <a:solidFill>
                  <a:srgbClr val="5C7480"/>
                </a:solidFill>
                <a:latin typeface="Times New Roman" pitchFamily="34" charset="0"/>
                <a:cs typeface="Times New Roman" pitchFamily="34" charset="-120"/>
              </a:rPr>
              <a:t>SIGMAE </a:t>
            </a:r>
            <a:r>
              <a:rPr lang="fr-FR" sz="1200" dirty="0">
                <a:solidFill>
                  <a:srgbClr val="5C7480"/>
                </a:solidFill>
                <a:latin typeface="Times New Roman" pitchFamily="34" charset="0"/>
                <a:cs typeface="Times New Roman" pitchFamily="34" charset="-120"/>
              </a:rPr>
              <a:t>en bref</a:t>
            </a:r>
            <a:endParaRPr lang="fr-FR" sz="1200" dirty="0"/>
          </a:p>
        </p:txBody>
      </p:sp>
      <p:sp>
        <p:nvSpPr>
          <p:cNvPr id="52" name="Shape 29">
            <a:extLst>
              <a:ext uri="{FF2B5EF4-FFF2-40B4-BE49-F238E27FC236}">
                <a16:creationId xmlns:a16="http://schemas.microsoft.com/office/drawing/2014/main" id="{CCCF5FE0-EA58-4635-BE97-D510DF492276}"/>
              </a:ext>
            </a:extLst>
          </p:cNvPr>
          <p:cNvSpPr/>
          <p:nvPr/>
        </p:nvSpPr>
        <p:spPr>
          <a:xfrm>
            <a:off x="661181" y="2008097"/>
            <a:ext cx="365760" cy="310896"/>
          </a:xfrm>
          <a:prstGeom prst="hexagon">
            <a:avLst/>
          </a:prstGeom>
          <a:solidFill>
            <a:srgbClr val="FFFFFF"/>
          </a:solidFill>
          <a:ln w="15875">
            <a:solidFill>
              <a:srgbClr val="D98E32"/>
            </a:solidFill>
            <a:prstDash val="solid"/>
          </a:ln>
        </p:spPr>
      </p:sp>
      <p:sp>
        <p:nvSpPr>
          <p:cNvPr id="53" name="Text 10">
            <a:extLst>
              <a:ext uri="{FF2B5EF4-FFF2-40B4-BE49-F238E27FC236}">
                <a16:creationId xmlns:a16="http://schemas.microsoft.com/office/drawing/2014/main" id="{38E8C330-AD42-4FC2-AE99-1E392A278CAB}"/>
              </a:ext>
            </a:extLst>
          </p:cNvPr>
          <p:cNvSpPr/>
          <p:nvPr/>
        </p:nvSpPr>
        <p:spPr>
          <a:xfrm>
            <a:off x="671685" y="2052569"/>
            <a:ext cx="359198" cy="254566"/>
          </a:xfrm>
          <a:prstGeom prst="rect">
            <a:avLst/>
          </a:prstGeom>
          <a:noFill/>
          <a:ln/>
        </p:spPr>
        <p:txBody>
          <a:bodyPr wrap="square" rtlCol="0" anchor="ctr"/>
          <a:lstStyle/>
          <a:p>
            <a:pPr marL="0" indent="0" algn="ctr">
              <a:buNone/>
            </a:pPr>
            <a:r>
              <a:rPr lang="en-US" sz="1300" b="1" dirty="0">
                <a:solidFill>
                  <a:srgbClr val="0B4F6C"/>
                </a:solidFill>
                <a:latin typeface="Times New Roman" pitchFamily="34" charset="0"/>
                <a:cs typeface="Times New Roman" pitchFamily="34" charset="-120"/>
              </a:rPr>
              <a:t>1</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144000" cy="292608"/>
          </a:xfrm>
          <a:prstGeom prst="rect">
            <a:avLst/>
          </a:prstGeom>
          <a:noFill/>
          <a:ln/>
        </p:spPr>
        <p:txBody>
          <a:bodyPr wrap="square" rtlCol="0" anchor="ctr"/>
          <a:lstStyle/>
          <a:p>
            <a:pPr marL="0" indent="0">
              <a:buNone/>
            </a:pPr>
            <a:r>
              <a:rPr lang="en-US" b="1" kern="0" spc="200" dirty="0">
                <a:solidFill>
                  <a:srgbClr val="D98E32"/>
                </a:solidFill>
                <a:latin typeface="Times New Roman" pitchFamily="34" charset="0"/>
                <a:ea typeface="Times New Roman" pitchFamily="34" charset="-122"/>
                <a:cs typeface="Times New Roman" pitchFamily="34" charset="-120"/>
              </a:rPr>
              <a:t>CONTEXTE</a:t>
            </a:r>
            <a:endParaRPr lang="en-US" dirty="0"/>
          </a:p>
        </p:txBody>
      </p:sp>
      <p:sp>
        <p:nvSpPr>
          <p:cNvPr id="3" name="Text 1"/>
          <p:cNvSpPr/>
          <p:nvPr/>
        </p:nvSpPr>
        <p:spPr>
          <a:xfrm>
            <a:off x="530352" y="530352"/>
            <a:ext cx="10424160" cy="603504"/>
          </a:xfrm>
          <a:prstGeom prst="rect">
            <a:avLst/>
          </a:prstGeom>
          <a:noFill/>
          <a:ln/>
        </p:spPr>
        <p:txBody>
          <a:bodyPr wrap="square" rtlCol="0" anchor="ctr"/>
          <a:lstStyle/>
          <a:p>
            <a:pPr marL="0" indent="0">
              <a:buNone/>
            </a:pPr>
            <a:r>
              <a:rPr lang="en-US" sz="3200" b="1" dirty="0">
                <a:solidFill>
                  <a:srgbClr val="0B4F6C"/>
                </a:solidFill>
                <a:latin typeface="Times New Roman" pitchFamily="34" charset="0"/>
                <a:ea typeface="Times New Roman" pitchFamily="34" charset="-122"/>
                <a:cs typeface="Times New Roman" pitchFamily="34" charset="-120"/>
              </a:rPr>
              <a:t>SIGMAE en bref</a:t>
            </a:r>
            <a:endParaRPr lang="en-US" sz="3200" dirty="0"/>
          </a:p>
        </p:txBody>
      </p:sp>
      <p:sp>
        <p:nvSpPr>
          <p:cNvPr id="7" name="Text 5"/>
          <p:cNvSpPr/>
          <p:nvPr/>
        </p:nvSpPr>
        <p:spPr>
          <a:xfrm>
            <a:off x="8337176" y="1417320"/>
            <a:ext cx="1584064" cy="1097280"/>
          </a:xfrm>
          <a:prstGeom prst="rect">
            <a:avLst/>
          </a:prstGeom>
          <a:noFill/>
          <a:ln/>
        </p:spPr>
        <p:txBody>
          <a:bodyPr wrap="square" rtlCol="0" anchor="ctr"/>
          <a:lstStyle/>
          <a:p>
            <a:pPr marL="0" indent="0" algn="l">
              <a:buNone/>
            </a:pPr>
            <a:r>
              <a:rPr lang="en-US" dirty="0">
                <a:solidFill>
                  <a:srgbClr val="FFFFFF"/>
                </a:solidFill>
                <a:latin typeface="Times New Roman" pitchFamily="34" charset="0"/>
                <a:ea typeface="Times New Roman" pitchFamily="34" charset="-122"/>
                <a:cs typeface="Times New Roman" pitchFamily="34" charset="-120"/>
              </a:rPr>
              <a:t>microservices</a:t>
            </a:r>
            <a:endParaRPr lang="en-US" dirty="0"/>
          </a:p>
        </p:txBody>
      </p:sp>
      <p:sp>
        <p:nvSpPr>
          <p:cNvPr id="17" name="Text 15"/>
          <p:cNvSpPr/>
          <p:nvPr/>
        </p:nvSpPr>
        <p:spPr>
          <a:xfrm>
            <a:off x="457200" y="6528816"/>
            <a:ext cx="7772400" cy="274320"/>
          </a:xfrm>
          <a:prstGeom prst="rect">
            <a:avLst/>
          </a:prstGeom>
          <a:noFill/>
          <a:ln/>
        </p:spPr>
        <p:txBody>
          <a:bodyPr wrap="square" rtlCol="0" anchor="ctr"/>
          <a:lstStyle/>
          <a:p>
            <a:pPr marL="0" indent="0" algn="l">
              <a:buNone/>
            </a:pPr>
            <a:r>
              <a:rPr lang="en-US" sz="1000" dirty="0">
                <a:solidFill>
                  <a:srgbClr val="5C7480"/>
                </a:solidFill>
                <a:latin typeface="Times New Roman" pitchFamily="34" charset="0"/>
                <a:ea typeface="Times New Roman" pitchFamily="34" charset="-122"/>
                <a:cs typeface="Times New Roman" pitchFamily="34" charset="-120"/>
              </a:rPr>
              <a:t>SIGMAE — Cahier de spécification technique · Modélisation UML</a:t>
            </a:r>
            <a:endParaRPr lang="en-US" sz="1000" dirty="0"/>
          </a:p>
        </p:txBody>
      </p:sp>
      <p:sp>
        <p:nvSpPr>
          <p:cNvPr id="18" name="Text 16"/>
          <p:cNvSpPr/>
          <p:nvPr/>
        </p:nvSpPr>
        <p:spPr>
          <a:xfrm>
            <a:off x="10241280" y="6528816"/>
            <a:ext cx="1490472" cy="274320"/>
          </a:xfrm>
          <a:prstGeom prst="rect">
            <a:avLst/>
          </a:prstGeom>
          <a:noFill/>
          <a:ln/>
        </p:spPr>
        <p:txBody>
          <a:bodyPr wrap="square" rtlCol="0" anchor="ctr"/>
          <a:lstStyle/>
          <a:p>
            <a:pPr marL="0" indent="0" algn="r">
              <a:buNone/>
            </a:pPr>
            <a:r>
              <a:rPr lang="en-US" sz="1000" dirty="0">
                <a:solidFill>
                  <a:srgbClr val="5C7480"/>
                </a:solidFill>
                <a:latin typeface="Times New Roman" pitchFamily="34" charset="0"/>
                <a:ea typeface="Times New Roman" pitchFamily="34" charset="-122"/>
                <a:cs typeface="Times New Roman" pitchFamily="34" charset="-120"/>
              </a:rPr>
              <a:t>3</a:t>
            </a:r>
            <a:endParaRPr lang="en-US" sz="1000" dirty="0"/>
          </a:p>
        </p:txBody>
      </p:sp>
      <p:sp>
        <p:nvSpPr>
          <p:cNvPr id="19" name="Shape 3">
            <a:extLst>
              <a:ext uri="{FF2B5EF4-FFF2-40B4-BE49-F238E27FC236}">
                <a16:creationId xmlns:a16="http://schemas.microsoft.com/office/drawing/2014/main" id="{A326A014-B1FC-4245-BDF1-497C0FB67936}"/>
              </a:ext>
            </a:extLst>
          </p:cNvPr>
          <p:cNvSpPr/>
          <p:nvPr/>
        </p:nvSpPr>
        <p:spPr>
          <a:xfrm>
            <a:off x="548639" y="1353312"/>
            <a:ext cx="11320631" cy="4974336"/>
          </a:xfrm>
          <a:prstGeom prst="roundRect">
            <a:avLst>
              <a:gd name="adj" fmla="val 6667"/>
            </a:avLst>
          </a:prstGeom>
          <a:solidFill>
            <a:srgbClr val="0B4F6C"/>
          </a:solidFill>
          <a:ln/>
          <a:effectLst>
            <a:outerShdw blurRad="101600" dist="38100" dir="5400000" algn="bl" rotWithShape="0">
              <a:srgbClr val="0B4F6C">
                <a:alpha val="25000"/>
              </a:srgbClr>
            </a:outerShdw>
          </a:effectLst>
        </p:spPr>
      </p:sp>
      <p:sp>
        <p:nvSpPr>
          <p:cNvPr id="20" name="Text 2">
            <a:extLst>
              <a:ext uri="{FF2B5EF4-FFF2-40B4-BE49-F238E27FC236}">
                <a16:creationId xmlns:a16="http://schemas.microsoft.com/office/drawing/2014/main" id="{1B87C2EF-86CA-4050-8447-63E165E23FA4}"/>
              </a:ext>
            </a:extLst>
          </p:cNvPr>
          <p:cNvSpPr/>
          <p:nvPr/>
        </p:nvSpPr>
        <p:spPr>
          <a:xfrm>
            <a:off x="593465" y="1515035"/>
            <a:ext cx="11183112" cy="4483430"/>
          </a:xfrm>
          <a:prstGeom prst="rect">
            <a:avLst/>
          </a:prstGeom>
          <a:noFill/>
          <a:ln/>
        </p:spPr>
        <p:txBody>
          <a:bodyPr wrap="square" lIns="0" tIns="0" rIns="0" bIns="0" rtlCol="0" anchor="t"/>
          <a:lstStyle/>
          <a:p>
            <a:pPr marL="285750" indent="-285750" algn="just">
              <a:lnSpc>
                <a:spcPct val="115000"/>
              </a:lnSpc>
              <a:spcAft>
                <a:spcPts val="600"/>
              </a:spcAft>
              <a:buFont typeface="Wingdings" panose="05000000000000000000" pitchFamily="2" charset="2"/>
              <a:buChar char="v"/>
            </a:pPr>
            <a:r>
              <a:rPr lang="fr-FR" sz="1800" dirty="0">
                <a:solidFill>
                  <a:schemeClr val="bg1"/>
                </a:solidFill>
                <a:effectLst/>
                <a:latin typeface="Times New Roman" panose="02020603050405020304" pitchFamily="18" charset="0"/>
                <a:ea typeface="MS Mincho" panose="02020609040205080304" pitchFamily="49" charset="-128"/>
                <a:cs typeface="Times New Roman" panose="02020603050405020304" pitchFamily="18" charset="0"/>
              </a:rPr>
              <a:t>L'UFR Sciences de l'Ingénieur (UFR SI) de l'Université </a:t>
            </a:r>
            <a:r>
              <a:rPr lang="fr-FR" sz="1800" dirty="0" err="1">
                <a:solidFill>
                  <a:schemeClr val="bg1"/>
                </a:solidFill>
                <a:effectLst/>
                <a:latin typeface="Times New Roman" panose="02020603050405020304" pitchFamily="18" charset="0"/>
                <a:ea typeface="MS Mincho" panose="02020609040205080304" pitchFamily="49" charset="-128"/>
                <a:cs typeface="Times New Roman" panose="02020603050405020304" pitchFamily="18" charset="0"/>
              </a:rPr>
              <a:t>Iba</a:t>
            </a:r>
            <a:r>
              <a:rPr lang="fr-FR" sz="1800" dirty="0">
                <a:solidFill>
                  <a:schemeClr val="bg1"/>
                </a:solidFill>
                <a:effectLst/>
                <a:latin typeface="Times New Roman" panose="02020603050405020304" pitchFamily="18" charset="0"/>
                <a:ea typeface="MS Mincho" panose="02020609040205080304" pitchFamily="49" charset="-128"/>
                <a:cs typeface="Times New Roman" panose="02020603050405020304" pitchFamily="18" charset="0"/>
              </a:rPr>
              <a:t> Der Thiam de Thiès (UIDT) forme des ingénieurs dans les spécialités de génie civil, géotechnique et topographie. Ses activités d'enseignement et de recherche nécessitent l'acquisition régulière de matériels et d'équipements (instruments topographiques, appareils de laboratoire, mobilier, consommables). </a:t>
            </a:r>
          </a:p>
          <a:p>
            <a:pPr marL="285750" indent="-285750" algn="just">
              <a:lnSpc>
                <a:spcPct val="115000"/>
              </a:lnSpc>
              <a:spcAft>
                <a:spcPts val="600"/>
              </a:spcAft>
              <a:buFont typeface="Wingdings" panose="05000000000000000000" pitchFamily="2" charset="2"/>
              <a:buChar char="v"/>
            </a:pPr>
            <a:r>
              <a:rPr lang="fr-FR" sz="1800" dirty="0">
                <a:solidFill>
                  <a:schemeClr val="bg1"/>
                </a:solidFill>
                <a:effectLst/>
                <a:latin typeface="Times New Roman" panose="02020603050405020304" pitchFamily="18" charset="0"/>
                <a:ea typeface="MS Mincho" panose="02020609040205080304" pitchFamily="49" charset="-128"/>
                <a:cs typeface="Times New Roman" panose="02020603050405020304" pitchFamily="18" charset="0"/>
              </a:rPr>
              <a:t>Ces acquisitions relèvent du droit des marchés publics sénégalais et mobilisent plusieurs acteurs : le Chef de Service Administratif (CSA), les chefs de département, la Cellule de Passation des Marchés (CPM), les commissions d'évaluation et de réception, le directeur de l'UFR et les fournisseurs.</a:t>
            </a:r>
            <a:endParaRPr lang="fr-SN" dirty="0">
              <a:solidFill>
                <a:schemeClr val="bg1"/>
              </a:solidFill>
              <a:latin typeface="Times New Roman" panose="02020603050405020304" pitchFamily="18" charset="0"/>
              <a:ea typeface="MS Mincho" panose="02020609040205080304" pitchFamily="49" charset="-128"/>
              <a:cs typeface="Times New Roman" panose="02020603050405020304" pitchFamily="18" charset="0"/>
            </a:endParaRPr>
          </a:p>
          <a:p>
            <a:pPr marL="285750" indent="-285750" algn="just">
              <a:lnSpc>
                <a:spcPct val="115000"/>
              </a:lnSpc>
              <a:spcAft>
                <a:spcPts val="600"/>
              </a:spcAft>
              <a:buFont typeface="Wingdings" panose="05000000000000000000" pitchFamily="2" charset="2"/>
              <a:buChar char="v"/>
            </a:pPr>
            <a:r>
              <a:rPr lang="fr-FR" sz="1800" dirty="0">
                <a:solidFill>
                  <a:schemeClr val="bg1"/>
                </a:solidFill>
                <a:effectLst/>
                <a:latin typeface="Times New Roman" panose="02020603050405020304" pitchFamily="18" charset="0"/>
                <a:ea typeface="MS Mincho" panose="02020609040205080304" pitchFamily="49" charset="-128"/>
                <a:cs typeface="Times New Roman" panose="02020603050405020304" pitchFamily="18" charset="0"/>
              </a:rPr>
              <a:t>La gestion actuelle de ce processus est en grande partie manuelle, fragmentée et peu traçable. Les fiches de besoins circulent par courrier interne, les dossiers d'offres sont constitués sur papier, et le suivi des marchés en cours repose sur des tableaux de bord non intégrés. Cette situation engendre des retards dans les acquisitions, des risques de non-conformité réglementaire et une difficulté à exploiter les données de pilotage.</a:t>
            </a:r>
            <a:endParaRPr lang="fr-SN" dirty="0">
              <a:solidFill>
                <a:schemeClr val="bg1"/>
              </a:solidFill>
              <a:latin typeface="Times New Roman" panose="02020603050405020304" pitchFamily="18" charset="0"/>
              <a:ea typeface="MS Mincho" panose="02020609040205080304" pitchFamily="49" charset="-128"/>
              <a:cs typeface="Times New Roman" panose="02020603050405020304" pitchFamily="18" charset="0"/>
            </a:endParaRPr>
          </a:p>
          <a:p>
            <a:pPr marL="285750" indent="-285750" algn="just">
              <a:lnSpc>
                <a:spcPct val="115000"/>
              </a:lnSpc>
              <a:spcAft>
                <a:spcPts val="600"/>
              </a:spcAft>
              <a:buFont typeface="Wingdings" panose="05000000000000000000" pitchFamily="2" charset="2"/>
              <a:buChar char="v"/>
            </a:pPr>
            <a:r>
              <a:rPr lang="fr-FR" dirty="0">
                <a:solidFill>
                  <a:schemeClr val="bg1"/>
                </a:solidFill>
                <a:latin typeface="Times New Roman" pitchFamily="34" charset="0"/>
                <a:ea typeface="Times New Roman" pitchFamily="34" charset="-122"/>
                <a:cs typeface="Times New Roman" pitchFamily="34" charset="-120"/>
              </a:rPr>
              <a:t>Objectif général : informatiser et sécuriser l'intégralité du cycle de vie des marchés — de l'expression des besoins jusqu'au paiement du fournisseur — en conformité avec le Code des marchés publics (Décret n° 2014-1212).</a:t>
            </a:r>
            <a:endParaRPr lang="fr-FR" dirty="0">
              <a:solidFill>
                <a:schemeClr val="bg1"/>
              </a:solidFill>
            </a:endParaRPr>
          </a:p>
        </p:txBody>
      </p:sp>
    </p:spTree>
    <p:extLst>
      <p:ext uri="{BB962C8B-B14F-4D97-AF65-F5344CB8AC3E}">
        <p14:creationId xmlns:p14="http://schemas.microsoft.com/office/powerpoint/2010/main" val="3654059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30569"/>
            <a:ext cx="9144000" cy="292608"/>
          </a:xfrm>
          <a:prstGeom prst="rect">
            <a:avLst/>
          </a:prstGeom>
          <a:noFill/>
          <a:ln/>
        </p:spPr>
        <p:txBody>
          <a:bodyPr wrap="square" rtlCol="0" anchor="ctr"/>
          <a:lstStyle/>
          <a:p>
            <a:pPr marL="0" indent="0">
              <a:buNone/>
            </a:pPr>
            <a:r>
              <a:rPr lang="en-US" b="1" kern="0" spc="200" dirty="0">
                <a:solidFill>
                  <a:srgbClr val="D98E32"/>
                </a:solidFill>
                <a:latin typeface="Times New Roman" pitchFamily="34" charset="0"/>
                <a:ea typeface="Times New Roman" pitchFamily="34" charset="-122"/>
                <a:cs typeface="Times New Roman" pitchFamily="34" charset="-120"/>
              </a:rPr>
              <a:t>VUE FONCTIONNELLE</a:t>
            </a:r>
            <a:endParaRPr lang="en-US" dirty="0"/>
          </a:p>
        </p:txBody>
      </p:sp>
      <p:sp>
        <p:nvSpPr>
          <p:cNvPr id="3" name="Text 1"/>
          <p:cNvSpPr/>
          <p:nvPr/>
        </p:nvSpPr>
        <p:spPr>
          <a:xfrm>
            <a:off x="530352" y="476562"/>
            <a:ext cx="10424160" cy="603504"/>
          </a:xfrm>
          <a:prstGeom prst="rect">
            <a:avLst/>
          </a:prstGeom>
          <a:noFill/>
          <a:ln/>
        </p:spPr>
        <p:txBody>
          <a:bodyPr wrap="square" rtlCol="0" anchor="ctr"/>
          <a:lstStyle/>
          <a:p>
            <a:pPr marL="0" indent="0">
              <a:buNone/>
            </a:pPr>
            <a:r>
              <a:rPr lang="en-US" sz="3200" b="1" dirty="0">
                <a:solidFill>
                  <a:srgbClr val="0B4F6C"/>
                </a:solidFill>
                <a:latin typeface="Times New Roman" pitchFamily="34" charset="0"/>
                <a:ea typeface="Times New Roman" pitchFamily="34" charset="-122"/>
                <a:cs typeface="Times New Roman" pitchFamily="34" charset="-120"/>
              </a:rPr>
              <a:t>Diagramme de cas d'utilisation</a:t>
            </a:r>
            <a:endParaRPr lang="en-US" sz="3200" dirty="0"/>
          </a:p>
        </p:txBody>
      </p:sp>
      <p:sp>
        <p:nvSpPr>
          <p:cNvPr id="4" name="Shape 2"/>
          <p:cNvSpPr/>
          <p:nvPr/>
        </p:nvSpPr>
        <p:spPr>
          <a:xfrm>
            <a:off x="9921240" y="329184"/>
            <a:ext cx="1828800" cy="475488"/>
          </a:xfrm>
          <a:prstGeom prst="hexagon">
            <a:avLst/>
          </a:prstGeom>
          <a:solidFill>
            <a:srgbClr val="0B4F6C"/>
          </a:solidFill>
          <a:ln/>
        </p:spPr>
      </p:sp>
      <p:sp>
        <p:nvSpPr>
          <p:cNvPr id="5" name="Text 3"/>
          <p:cNvSpPr/>
          <p:nvPr/>
        </p:nvSpPr>
        <p:spPr>
          <a:xfrm>
            <a:off x="9921240" y="329184"/>
            <a:ext cx="1828800" cy="475488"/>
          </a:xfrm>
          <a:prstGeom prst="rect">
            <a:avLst/>
          </a:prstGeom>
          <a:noFill/>
          <a:ln/>
        </p:spPr>
        <p:txBody>
          <a:bodyPr wrap="square"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Figure 1</a:t>
            </a:r>
            <a:endParaRPr lang="en-US" sz="1400" dirty="0"/>
          </a:p>
        </p:txBody>
      </p:sp>
      <p:sp>
        <p:nvSpPr>
          <p:cNvPr id="6" name="Shape 4"/>
          <p:cNvSpPr/>
          <p:nvPr/>
        </p:nvSpPr>
        <p:spPr>
          <a:xfrm>
            <a:off x="179292" y="1039189"/>
            <a:ext cx="8812305" cy="5516880"/>
          </a:xfrm>
          <a:prstGeom prst="roundRect">
            <a:avLst>
              <a:gd name="adj" fmla="val 1653"/>
            </a:avLst>
          </a:prstGeom>
          <a:solidFill>
            <a:srgbClr val="FFFFFF"/>
          </a:solidFill>
          <a:ln w="12700">
            <a:solidFill>
              <a:srgbClr val="BFE0EA"/>
            </a:solidFill>
            <a:prstDash val="solid"/>
          </a:ln>
          <a:effectLst>
            <a:outerShdw blurRad="101600" dist="38100" dir="5400000" algn="bl" rotWithShape="0">
              <a:srgbClr val="0B4F6C">
                <a:alpha val="18000"/>
              </a:srgbClr>
            </a:outerShdw>
          </a:effectLst>
        </p:spPr>
      </p:sp>
      <p:pic>
        <p:nvPicPr>
          <p:cNvPr id="7" name="Image 0" descr="f2_cas_utilisation.png"/>
          <p:cNvPicPr>
            <a:picLocks noChangeAspect="1"/>
          </p:cNvPicPr>
          <p:nvPr/>
        </p:nvPicPr>
        <p:blipFill>
          <a:blip r:embed="rId3"/>
          <a:stretch>
            <a:fillRect/>
          </a:stretch>
        </p:blipFill>
        <p:spPr>
          <a:xfrm>
            <a:off x="249749" y="1128488"/>
            <a:ext cx="8671389" cy="5338282"/>
          </a:xfrm>
          <a:prstGeom prst="rect">
            <a:avLst/>
          </a:prstGeom>
        </p:spPr>
      </p:pic>
      <p:sp>
        <p:nvSpPr>
          <p:cNvPr id="11" name="Text 8"/>
          <p:cNvSpPr/>
          <p:nvPr/>
        </p:nvSpPr>
        <p:spPr>
          <a:xfrm>
            <a:off x="457200" y="6528816"/>
            <a:ext cx="7772400" cy="274320"/>
          </a:xfrm>
          <a:prstGeom prst="rect">
            <a:avLst/>
          </a:prstGeom>
          <a:noFill/>
          <a:ln/>
        </p:spPr>
        <p:txBody>
          <a:bodyPr wrap="square" rtlCol="0" anchor="ctr"/>
          <a:lstStyle/>
          <a:p>
            <a:pPr marL="0" indent="0" algn="l">
              <a:buNone/>
            </a:pPr>
            <a:r>
              <a:rPr lang="en-US" sz="1000" dirty="0">
                <a:solidFill>
                  <a:srgbClr val="5C7480"/>
                </a:solidFill>
                <a:latin typeface="Times New Roman" pitchFamily="34" charset="0"/>
                <a:ea typeface="Times New Roman" pitchFamily="34" charset="-122"/>
                <a:cs typeface="Times New Roman" pitchFamily="34" charset="-120"/>
              </a:rPr>
              <a:t>SIGMAE — Cahier de spécification technique · Modélisation UML</a:t>
            </a:r>
            <a:endParaRPr lang="en-US" sz="1000" dirty="0"/>
          </a:p>
        </p:txBody>
      </p:sp>
      <p:sp>
        <p:nvSpPr>
          <p:cNvPr id="12" name="Text 9"/>
          <p:cNvSpPr/>
          <p:nvPr/>
        </p:nvSpPr>
        <p:spPr>
          <a:xfrm>
            <a:off x="10241280" y="6528816"/>
            <a:ext cx="1490472" cy="274320"/>
          </a:xfrm>
          <a:prstGeom prst="rect">
            <a:avLst/>
          </a:prstGeom>
          <a:noFill/>
          <a:ln/>
        </p:spPr>
        <p:txBody>
          <a:bodyPr wrap="square" rtlCol="0" anchor="ctr"/>
          <a:lstStyle/>
          <a:p>
            <a:pPr marL="0" indent="0" algn="r">
              <a:buNone/>
            </a:pPr>
            <a:r>
              <a:rPr lang="en-US" sz="1000" dirty="0">
                <a:solidFill>
                  <a:srgbClr val="5C7480"/>
                </a:solidFill>
                <a:latin typeface="Times New Roman" pitchFamily="34" charset="0"/>
                <a:cs typeface="Times New Roman" pitchFamily="34" charset="-120"/>
              </a:rPr>
              <a:t>4</a:t>
            </a:r>
            <a:endParaRPr lang="en-US" sz="1000" dirty="0"/>
          </a:p>
        </p:txBody>
      </p:sp>
      <p:sp>
        <p:nvSpPr>
          <p:cNvPr id="13" name="Shape 5">
            <a:extLst>
              <a:ext uri="{FF2B5EF4-FFF2-40B4-BE49-F238E27FC236}">
                <a16:creationId xmlns:a16="http://schemas.microsoft.com/office/drawing/2014/main" id="{D56A5C43-9470-4B83-A9D9-E44EFBAEC1F1}"/>
              </a:ext>
            </a:extLst>
          </p:cNvPr>
          <p:cNvSpPr/>
          <p:nvPr/>
        </p:nvSpPr>
        <p:spPr>
          <a:xfrm>
            <a:off x="9062054" y="1078992"/>
            <a:ext cx="389069" cy="415818"/>
          </a:xfrm>
          <a:prstGeom prst="ellipse">
            <a:avLst/>
          </a:prstGeom>
          <a:solidFill>
            <a:srgbClr val="D98E32"/>
          </a:solidFill>
          <a:ln/>
        </p:spPr>
      </p:sp>
      <p:sp>
        <p:nvSpPr>
          <p:cNvPr id="14" name="Text 6">
            <a:extLst>
              <a:ext uri="{FF2B5EF4-FFF2-40B4-BE49-F238E27FC236}">
                <a16:creationId xmlns:a16="http://schemas.microsoft.com/office/drawing/2014/main" id="{C9185351-F026-4B63-A948-70558EB2D793}"/>
              </a:ext>
            </a:extLst>
          </p:cNvPr>
          <p:cNvSpPr/>
          <p:nvPr/>
        </p:nvSpPr>
        <p:spPr>
          <a:xfrm>
            <a:off x="9521580" y="992573"/>
            <a:ext cx="2834190" cy="603505"/>
          </a:xfrm>
          <a:prstGeom prst="rect">
            <a:avLst/>
          </a:prstGeom>
          <a:noFill/>
          <a:ln/>
        </p:spPr>
        <p:txBody>
          <a:bodyPr wrap="square" rtlCol="0" anchor="ctr"/>
          <a:lstStyle/>
          <a:p>
            <a:pPr marL="0" indent="0">
              <a:buNone/>
            </a:pPr>
            <a:r>
              <a:rPr lang="en-US" sz="1600" b="1" dirty="0">
                <a:solidFill>
                  <a:srgbClr val="0B4F6C"/>
                </a:solidFill>
                <a:latin typeface="Times New Roman" pitchFamily="34" charset="0"/>
                <a:ea typeface="Times New Roman" pitchFamily="34" charset="-122"/>
                <a:cs typeface="Times New Roman" pitchFamily="34" charset="-120"/>
              </a:rPr>
              <a:t>Lecture du diagramme</a:t>
            </a:r>
            <a:endParaRPr lang="en-US" sz="1600" dirty="0"/>
          </a:p>
        </p:txBody>
      </p:sp>
      <p:sp>
        <p:nvSpPr>
          <p:cNvPr id="15" name="Text 7">
            <a:extLst>
              <a:ext uri="{FF2B5EF4-FFF2-40B4-BE49-F238E27FC236}">
                <a16:creationId xmlns:a16="http://schemas.microsoft.com/office/drawing/2014/main" id="{67DAFAB5-5E3C-443A-9351-1CE9FAAF65E9}"/>
              </a:ext>
            </a:extLst>
          </p:cNvPr>
          <p:cNvSpPr/>
          <p:nvPr/>
        </p:nvSpPr>
        <p:spPr>
          <a:xfrm>
            <a:off x="9086625" y="1700898"/>
            <a:ext cx="2926083" cy="4288129"/>
          </a:xfrm>
          <a:prstGeom prst="rect">
            <a:avLst/>
          </a:prstGeom>
          <a:noFill/>
          <a:ln/>
        </p:spPr>
        <p:txBody>
          <a:bodyPr wrap="square" lIns="0" tIns="0" rIns="0" bIns="0" rtlCol="0" anchor="t"/>
          <a:lstStyle/>
          <a:p>
            <a:pPr marL="177800" indent="-177800" algn="just">
              <a:spcAft>
                <a:spcPts val="800"/>
              </a:spcAft>
              <a:buSzPct val="100000"/>
              <a:buChar char="•"/>
            </a:pPr>
            <a:r>
              <a:rPr lang="en-US" dirty="0">
                <a:solidFill>
                  <a:srgbClr val="26333D"/>
                </a:solidFill>
                <a:latin typeface="Times New Roman" pitchFamily="34" charset="0"/>
                <a:ea typeface="Times New Roman" pitchFamily="34" charset="-122"/>
                <a:cs typeface="Times New Roman" pitchFamily="34" charset="-120"/>
              </a:rPr>
              <a:t>Dix-sept cas d'utilisation, conformes à la notation UML 2.5, couvrent l'ensemble du cycle de vie du marché : de l'expression des besoins à la clôture du contrat.</a:t>
            </a:r>
            <a:endParaRPr lang="en-US" dirty="0"/>
          </a:p>
          <a:p>
            <a:pPr marL="177800" indent="-177800" algn="just">
              <a:spcAft>
                <a:spcPts val="800"/>
              </a:spcAft>
              <a:buSzPct val="100000"/>
              <a:buChar char="•"/>
            </a:pPr>
            <a:r>
              <a:rPr lang="en-US" dirty="0">
                <a:solidFill>
                  <a:srgbClr val="26333D"/>
                </a:solidFill>
                <a:latin typeface="Times New Roman" pitchFamily="34" charset="0"/>
                <a:ea typeface="Times New Roman" pitchFamily="34" charset="-122"/>
                <a:cs typeface="Times New Roman" pitchFamily="34" charset="-120"/>
              </a:rPr>
              <a:t>Les relations « include » modélisent les actions obligatoires (s'authentifier, consolider) ; les relations « extend » modélisent les options (verser une avance, recherche via le chatbot).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144000" cy="292608"/>
          </a:xfrm>
          <a:prstGeom prst="rect">
            <a:avLst/>
          </a:prstGeom>
          <a:noFill/>
          <a:ln/>
        </p:spPr>
        <p:txBody>
          <a:bodyPr wrap="square" rtlCol="0" anchor="ctr"/>
          <a:lstStyle/>
          <a:p>
            <a:pPr marL="0" indent="0">
              <a:buNone/>
            </a:pPr>
            <a:r>
              <a:rPr lang="en-US" sz="1300" b="1" kern="0" spc="200" dirty="0">
                <a:solidFill>
                  <a:srgbClr val="D98E32"/>
                </a:solidFill>
                <a:latin typeface="Times New Roman" pitchFamily="34" charset="0"/>
                <a:ea typeface="Times New Roman" pitchFamily="34" charset="-122"/>
                <a:cs typeface="Times New Roman" pitchFamily="34" charset="-120"/>
              </a:rPr>
              <a:t>VUE FONCTIONNELLE</a:t>
            </a:r>
            <a:endParaRPr lang="en-US" sz="1300" dirty="0"/>
          </a:p>
        </p:txBody>
      </p:sp>
      <p:sp>
        <p:nvSpPr>
          <p:cNvPr id="3" name="Text 1"/>
          <p:cNvSpPr/>
          <p:nvPr/>
        </p:nvSpPr>
        <p:spPr>
          <a:xfrm>
            <a:off x="530352" y="530352"/>
            <a:ext cx="10424160" cy="603504"/>
          </a:xfrm>
          <a:prstGeom prst="rect">
            <a:avLst/>
          </a:prstGeom>
          <a:noFill/>
          <a:ln/>
        </p:spPr>
        <p:txBody>
          <a:bodyPr wrap="square" rtlCol="0" anchor="ctr"/>
          <a:lstStyle/>
          <a:p>
            <a:pPr marL="0" indent="0">
              <a:buNone/>
            </a:pPr>
            <a:r>
              <a:rPr lang="en-US" sz="3200" b="1" dirty="0">
                <a:solidFill>
                  <a:srgbClr val="0B4F6C"/>
                </a:solidFill>
                <a:latin typeface="Times New Roman" pitchFamily="34" charset="0"/>
                <a:ea typeface="Times New Roman" pitchFamily="34" charset="-122"/>
                <a:cs typeface="Times New Roman" pitchFamily="34" charset="-120"/>
              </a:rPr>
              <a:t>Acteurs et cas d'utilisation par phase</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2628324127"/>
              </p:ext>
            </p:extLst>
          </p:nvPr>
        </p:nvGraphicFramePr>
        <p:xfrm>
          <a:off x="600634" y="1398494"/>
          <a:ext cx="11131118" cy="4858872"/>
        </p:xfrm>
        <a:graphic>
          <a:graphicData uri="http://schemas.openxmlformats.org/drawingml/2006/table">
            <a:tbl>
              <a:tblPr/>
              <a:tblGrid>
                <a:gridCol w="1563876">
                  <a:extLst>
                    <a:ext uri="{9D8B030D-6E8A-4147-A177-3AD203B41FA5}">
                      <a16:colId xmlns:a16="http://schemas.microsoft.com/office/drawing/2014/main" val="20000"/>
                    </a:ext>
                  </a:extLst>
                </a:gridCol>
                <a:gridCol w="3771702">
                  <a:extLst>
                    <a:ext uri="{9D8B030D-6E8A-4147-A177-3AD203B41FA5}">
                      <a16:colId xmlns:a16="http://schemas.microsoft.com/office/drawing/2014/main" val="20001"/>
                    </a:ext>
                  </a:extLst>
                </a:gridCol>
                <a:gridCol w="5795540">
                  <a:extLst>
                    <a:ext uri="{9D8B030D-6E8A-4147-A177-3AD203B41FA5}">
                      <a16:colId xmlns:a16="http://schemas.microsoft.com/office/drawing/2014/main" val="20002"/>
                    </a:ext>
                  </a:extLst>
                </a:gridCol>
              </a:tblGrid>
              <a:tr h="526756">
                <a:tc>
                  <a:txBody>
                    <a:bodyPr/>
                    <a:lstStyle/>
                    <a:p>
                      <a:pPr marL="0" indent="0">
                        <a:buNone/>
                      </a:pPr>
                      <a:r>
                        <a:rPr lang="en-US" sz="1400" b="1" dirty="0">
                          <a:solidFill>
                            <a:srgbClr val="FFFFFF"/>
                          </a:solidFill>
                          <a:latin typeface="Times New Roman" pitchFamily="34" charset="0"/>
                          <a:ea typeface="Times New Roman" pitchFamily="34" charset="-122"/>
                          <a:cs typeface="Times New Roman" pitchFamily="34" charset="-120"/>
                        </a:rPr>
                        <a:t>Phase</a:t>
                      </a:r>
                      <a:endParaRPr lang="en-US" sz="140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0B4F6C"/>
                    </a:solidFill>
                  </a:tcPr>
                </a:tc>
                <a:tc>
                  <a:txBody>
                    <a:bodyPr/>
                    <a:lstStyle/>
                    <a:p>
                      <a:pPr marL="0" indent="0">
                        <a:buNone/>
                      </a:pPr>
                      <a:r>
                        <a:rPr lang="en-US" sz="1400" b="1" dirty="0">
                          <a:solidFill>
                            <a:srgbClr val="FFFFFF"/>
                          </a:solidFill>
                          <a:latin typeface="Times New Roman" pitchFamily="34" charset="0"/>
                          <a:ea typeface="Times New Roman" pitchFamily="34" charset="-122"/>
                          <a:cs typeface="Times New Roman" pitchFamily="34" charset="-120"/>
                        </a:rPr>
                        <a:t>Acteur principal</a:t>
                      </a:r>
                      <a:endParaRPr lang="en-US" sz="140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0B4F6C"/>
                    </a:solidFill>
                  </a:tcPr>
                </a:tc>
                <a:tc>
                  <a:txBody>
                    <a:bodyPr/>
                    <a:lstStyle/>
                    <a:p>
                      <a:pPr marL="0" indent="0">
                        <a:buNone/>
                      </a:pPr>
                      <a:r>
                        <a:rPr lang="en-US" sz="1400" b="1" dirty="0">
                          <a:solidFill>
                            <a:srgbClr val="FFFFFF"/>
                          </a:solidFill>
                          <a:latin typeface="Times New Roman" pitchFamily="34" charset="0"/>
                          <a:ea typeface="Times New Roman" pitchFamily="34" charset="-122"/>
                          <a:cs typeface="Times New Roman" pitchFamily="34" charset="-120"/>
                        </a:rPr>
                        <a:t>Cas d'utilisation représentatifs</a:t>
                      </a:r>
                      <a:endParaRPr lang="en-US" sz="140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0B4F6C"/>
                    </a:solidFill>
                  </a:tcPr>
                </a:tc>
                <a:extLst>
                  <a:ext uri="{0D108BD9-81ED-4DB2-BD59-A6C34878D82A}">
                    <a16:rowId xmlns:a16="http://schemas.microsoft.com/office/drawing/2014/main" val="10000"/>
                  </a:ext>
                </a:extLst>
              </a:tr>
              <a:tr h="835544">
                <a:tc>
                  <a:txBody>
                    <a:bodyPr/>
                    <a:lstStyle/>
                    <a:p>
                      <a:pPr marL="0" indent="0">
                        <a:buNone/>
                      </a:pPr>
                      <a:r>
                        <a:rPr lang="en-US" sz="1250" b="1" dirty="0" err="1">
                          <a:solidFill>
                            <a:srgbClr val="0B4F6C"/>
                          </a:solidFill>
                          <a:latin typeface="Times New Roman" pitchFamily="34" charset="0"/>
                          <a:ea typeface="Times New Roman" pitchFamily="34" charset="-122"/>
                          <a:cs typeface="Times New Roman" pitchFamily="34" charset="-120"/>
                        </a:rPr>
                        <a:t>Besoins</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a:solidFill>
                            <a:srgbClr val="26333D"/>
                          </a:solidFill>
                          <a:latin typeface="Times New Roman" pitchFamily="34" charset="0"/>
                          <a:ea typeface="Times New Roman" pitchFamily="34" charset="-122"/>
                          <a:cs typeface="Times New Roman" pitchFamily="34" charset="-120"/>
                        </a:rPr>
                        <a:t>CSA · Chef de </a:t>
                      </a:r>
                      <a:r>
                        <a:rPr lang="en-US" sz="1250" dirty="0" err="1">
                          <a:solidFill>
                            <a:srgbClr val="26333D"/>
                          </a:solidFill>
                          <a:latin typeface="Times New Roman" pitchFamily="34" charset="0"/>
                          <a:ea typeface="Times New Roman" pitchFamily="34" charset="-122"/>
                          <a:cs typeface="Times New Roman" pitchFamily="34" charset="-120"/>
                        </a:rPr>
                        <a:t>département</a:t>
                      </a:r>
                      <a:r>
                        <a:rPr lang="en-US" sz="1250" dirty="0">
                          <a:solidFill>
                            <a:srgbClr val="26333D"/>
                          </a:solidFill>
                          <a:latin typeface="Times New Roman" pitchFamily="34" charset="0"/>
                          <a:ea typeface="Times New Roman" pitchFamily="34" charset="-122"/>
                          <a:cs typeface="Times New Roman" pitchFamily="34" charset="-120"/>
                        </a:rPr>
                        <a:t> · </a:t>
                      </a:r>
                      <a:r>
                        <a:rPr lang="en-US" sz="1250" dirty="0" err="1">
                          <a:solidFill>
                            <a:srgbClr val="26333D"/>
                          </a:solidFill>
                          <a:latin typeface="Times New Roman" pitchFamily="34" charset="0"/>
                          <a:ea typeface="Times New Roman" pitchFamily="34" charset="-122"/>
                          <a:cs typeface="Times New Roman" pitchFamily="34" charset="-120"/>
                        </a:rPr>
                        <a:t>Enseignant</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a:solidFill>
                            <a:srgbClr val="26333D"/>
                          </a:solidFill>
                          <a:latin typeface="Times New Roman" pitchFamily="34" charset="0"/>
                          <a:ea typeface="Times New Roman" pitchFamily="34" charset="-122"/>
                          <a:cs typeface="Times New Roman" pitchFamily="34" charset="-120"/>
                        </a:rPr>
                        <a:t>Émettre la fiche de </a:t>
                      </a:r>
                      <a:r>
                        <a:rPr lang="en-US" sz="1250" dirty="0" err="1">
                          <a:solidFill>
                            <a:srgbClr val="26333D"/>
                          </a:solidFill>
                          <a:latin typeface="Times New Roman" pitchFamily="34" charset="0"/>
                          <a:ea typeface="Times New Roman" pitchFamily="34" charset="-122"/>
                          <a:cs typeface="Times New Roman" pitchFamily="34" charset="-120"/>
                        </a:rPr>
                        <a:t>besoin</a:t>
                      </a:r>
                      <a:r>
                        <a:rPr lang="en-US" sz="1250" dirty="0">
                          <a:solidFill>
                            <a:srgbClr val="26333D"/>
                          </a:solidFill>
                          <a:latin typeface="Times New Roman" pitchFamily="34" charset="0"/>
                          <a:ea typeface="Times New Roman" pitchFamily="34" charset="-122"/>
                          <a:cs typeface="Times New Roman" pitchFamily="34" charset="-120"/>
                        </a:rPr>
                        <a:t>, </a:t>
                      </a:r>
                      <a:r>
                        <a:rPr lang="en-US" sz="1250" dirty="0" err="1">
                          <a:solidFill>
                            <a:srgbClr val="26333D"/>
                          </a:solidFill>
                          <a:latin typeface="Times New Roman" pitchFamily="34" charset="0"/>
                          <a:ea typeface="Times New Roman" pitchFamily="34" charset="-122"/>
                          <a:cs typeface="Times New Roman" pitchFamily="34" charset="-120"/>
                        </a:rPr>
                        <a:t>remplir</a:t>
                      </a:r>
                      <a:r>
                        <a:rPr lang="en-US" sz="1250" dirty="0">
                          <a:solidFill>
                            <a:srgbClr val="26333D"/>
                          </a:solidFill>
                          <a:latin typeface="Times New Roman" pitchFamily="34" charset="0"/>
                          <a:ea typeface="Times New Roman" pitchFamily="34" charset="-122"/>
                          <a:cs typeface="Times New Roman" pitchFamily="34" charset="-120"/>
                        </a:rPr>
                        <a:t> un </a:t>
                      </a:r>
                      <a:r>
                        <a:rPr lang="en-US" sz="1250" dirty="0" err="1">
                          <a:solidFill>
                            <a:srgbClr val="26333D"/>
                          </a:solidFill>
                          <a:latin typeface="Times New Roman" pitchFamily="34" charset="0"/>
                          <a:ea typeface="Times New Roman" pitchFamily="34" charset="-122"/>
                          <a:cs typeface="Times New Roman" pitchFamily="34" charset="-120"/>
                        </a:rPr>
                        <a:t>besoin</a:t>
                      </a:r>
                      <a:r>
                        <a:rPr lang="en-US" sz="1250" dirty="0">
                          <a:solidFill>
                            <a:srgbClr val="26333D"/>
                          </a:solidFill>
                          <a:latin typeface="Times New Roman" pitchFamily="34" charset="0"/>
                          <a:ea typeface="Times New Roman" pitchFamily="34" charset="-122"/>
                          <a:cs typeface="Times New Roman" pitchFamily="34" charset="-120"/>
                        </a:rPr>
                        <a:t>, </a:t>
                      </a:r>
                      <a:r>
                        <a:rPr lang="en-US" sz="1250" dirty="0" err="1">
                          <a:solidFill>
                            <a:srgbClr val="26333D"/>
                          </a:solidFill>
                          <a:latin typeface="Times New Roman" pitchFamily="34" charset="0"/>
                          <a:ea typeface="Times New Roman" pitchFamily="34" charset="-122"/>
                          <a:cs typeface="Times New Roman" pitchFamily="34" charset="-120"/>
                        </a:rPr>
                        <a:t>recueillir</a:t>
                      </a:r>
                      <a:r>
                        <a:rPr lang="en-US" sz="1250" dirty="0">
                          <a:solidFill>
                            <a:srgbClr val="26333D"/>
                          </a:solidFill>
                          <a:latin typeface="Times New Roman" pitchFamily="34" charset="0"/>
                          <a:ea typeface="Times New Roman" pitchFamily="34" charset="-122"/>
                          <a:cs typeface="Times New Roman" pitchFamily="34" charset="-120"/>
                        </a:rPr>
                        <a:t> et </a:t>
                      </a:r>
                      <a:r>
                        <a:rPr lang="en-US" sz="1250" dirty="0" err="1">
                          <a:solidFill>
                            <a:srgbClr val="26333D"/>
                          </a:solidFill>
                          <a:latin typeface="Times New Roman" pitchFamily="34" charset="0"/>
                          <a:ea typeface="Times New Roman" pitchFamily="34" charset="-122"/>
                          <a:cs typeface="Times New Roman" pitchFamily="34" charset="-120"/>
                        </a:rPr>
                        <a:t>consolider</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35544">
                <a:tc>
                  <a:txBody>
                    <a:bodyPr/>
                    <a:lstStyle/>
                    <a:p>
                      <a:pPr marL="0" indent="0">
                        <a:buNone/>
                      </a:pPr>
                      <a:r>
                        <a:rPr lang="en-US" sz="1250" b="1">
                          <a:solidFill>
                            <a:srgbClr val="0B4F6C"/>
                          </a:solidFill>
                          <a:latin typeface="Times New Roman" pitchFamily="34" charset="0"/>
                          <a:ea typeface="Times New Roman" pitchFamily="34" charset="-122"/>
                          <a:cs typeface="Times New Roman" pitchFamily="34" charset="-120"/>
                        </a:rPr>
                        <a:t>Montage</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a:solidFill>
                            <a:srgbClr val="26333D"/>
                          </a:solidFill>
                          <a:latin typeface="Times New Roman" pitchFamily="34" charset="0"/>
                          <a:ea typeface="Times New Roman" pitchFamily="34" charset="-122"/>
                          <a:cs typeface="Times New Roman" pitchFamily="34" charset="-120"/>
                        </a:rPr>
                        <a:t>CPM (Cellule de </a:t>
                      </a:r>
                      <a:r>
                        <a:rPr lang="en-US" sz="1250" dirty="0" err="1">
                          <a:solidFill>
                            <a:srgbClr val="26333D"/>
                          </a:solidFill>
                          <a:latin typeface="Times New Roman" pitchFamily="34" charset="0"/>
                          <a:ea typeface="Times New Roman" pitchFamily="34" charset="-122"/>
                          <a:cs typeface="Times New Roman" pitchFamily="34" charset="-120"/>
                        </a:rPr>
                        <a:t>passation</a:t>
                      </a:r>
                      <a:r>
                        <a:rPr lang="en-US" sz="1250" dirty="0">
                          <a:solidFill>
                            <a:srgbClr val="26333D"/>
                          </a:solidFill>
                          <a:latin typeface="Times New Roman" pitchFamily="34" charset="0"/>
                          <a:ea typeface="Times New Roman" pitchFamily="34" charset="-122"/>
                          <a:cs typeface="Times New Roman" pitchFamily="34" charset="-120"/>
                        </a:rPr>
                        <a:t> des </a:t>
                      </a:r>
                      <a:r>
                        <a:rPr lang="en-US" sz="1250" dirty="0" err="1">
                          <a:solidFill>
                            <a:srgbClr val="26333D"/>
                          </a:solidFill>
                          <a:latin typeface="Times New Roman" pitchFamily="34" charset="0"/>
                          <a:ea typeface="Times New Roman" pitchFamily="34" charset="-122"/>
                          <a:cs typeface="Times New Roman" pitchFamily="34" charset="-120"/>
                        </a:rPr>
                        <a:t>marchés</a:t>
                      </a:r>
                      <a:r>
                        <a:rPr lang="en-US" sz="1250" dirty="0">
                          <a:solidFill>
                            <a:srgbClr val="26333D"/>
                          </a:solidFill>
                          <a:latin typeface="Times New Roman" pitchFamily="34" charset="0"/>
                          <a:ea typeface="Times New Roman" pitchFamily="34" charset="-122"/>
                          <a:cs typeface="Times New Roman" pitchFamily="34" charset="-120"/>
                        </a:rPr>
                        <a:t>)</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err="1">
                          <a:solidFill>
                            <a:srgbClr val="26333D"/>
                          </a:solidFill>
                          <a:latin typeface="Times New Roman" pitchFamily="34" charset="0"/>
                          <a:ea typeface="Times New Roman" pitchFamily="34" charset="-122"/>
                          <a:cs typeface="Times New Roman" pitchFamily="34" charset="-120"/>
                        </a:rPr>
                        <a:t>Déterminer</a:t>
                      </a:r>
                      <a:r>
                        <a:rPr lang="en-US" sz="1250" dirty="0">
                          <a:solidFill>
                            <a:srgbClr val="26333D"/>
                          </a:solidFill>
                          <a:latin typeface="Times New Roman" pitchFamily="34" charset="0"/>
                          <a:ea typeface="Times New Roman" pitchFamily="34" charset="-122"/>
                          <a:cs typeface="Times New Roman" pitchFamily="34" charset="-120"/>
                        </a:rPr>
                        <a:t> type et </a:t>
                      </a:r>
                      <a:r>
                        <a:rPr lang="en-US" sz="1250" dirty="0" err="1">
                          <a:solidFill>
                            <a:srgbClr val="26333D"/>
                          </a:solidFill>
                          <a:latin typeface="Times New Roman" pitchFamily="34" charset="0"/>
                          <a:ea typeface="Times New Roman" pitchFamily="34" charset="-122"/>
                          <a:cs typeface="Times New Roman" pitchFamily="34" charset="-120"/>
                        </a:rPr>
                        <a:t>procédure</a:t>
                      </a:r>
                      <a:r>
                        <a:rPr lang="en-US" sz="1250" dirty="0">
                          <a:solidFill>
                            <a:srgbClr val="26333D"/>
                          </a:solidFill>
                          <a:latin typeface="Times New Roman" pitchFamily="34" charset="0"/>
                          <a:ea typeface="Times New Roman" pitchFamily="34" charset="-122"/>
                          <a:cs typeface="Times New Roman" pitchFamily="34" charset="-120"/>
                        </a:rPr>
                        <a:t>, lancer </a:t>
                      </a:r>
                      <a:r>
                        <a:rPr lang="en-US" sz="1250" dirty="0" err="1">
                          <a:solidFill>
                            <a:srgbClr val="26333D"/>
                          </a:solidFill>
                          <a:latin typeface="Times New Roman" pitchFamily="34" charset="0"/>
                          <a:ea typeface="Times New Roman" pitchFamily="34" charset="-122"/>
                          <a:cs typeface="Times New Roman" pitchFamily="34" charset="-120"/>
                        </a:rPr>
                        <a:t>l'appel</a:t>
                      </a:r>
                      <a:r>
                        <a:rPr lang="en-US" sz="1250" dirty="0">
                          <a:solidFill>
                            <a:srgbClr val="26333D"/>
                          </a:solidFill>
                          <a:latin typeface="Times New Roman" pitchFamily="34" charset="0"/>
                          <a:ea typeface="Times New Roman" pitchFamily="34" charset="-122"/>
                          <a:cs typeface="Times New Roman" pitchFamily="34" charset="-120"/>
                        </a:rPr>
                        <a:t> </a:t>
                      </a:r>
                      <a:r>
                        <a:rPr lang="en-US" sz="1250" dirty="0" err="1">
                          <a:solidFill>
                            <a:srgbClr val="26333D"/>
                          </a:solidFill>
                          <a:latin typeface="Times New Roman" pitchFamily="34" charset="0"/>
                          <a:ea typeface="Times New Roman" pitchFamily="34" charset="-122"/>
                          <a:cs typeface="Times New Roman" pitchFamily="34" charset="-120"/>
                        </a:rPr>
                        <a:t>d'offres</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53611">
                <a:tc>
                  <a:txBody>
                    <a:bodyPr/>
                    <a:lstStyle/>
                    <a:p>
                      <a:pPr marL="0" indent="0">
                        <a:buNone/>
                      </a:pPr>
                      <a:r>
                        <a:rPr lang="en-US" sz="1250" b="1">
                          <a:solidFill>
                            <a:srgbClr val="0B4F6C"/>
                          </a:solidFill>
                          <a:latin typeface="Times New Roman" pitchFamily="34" charset="0"/>
                          <a:ea typeface="Times New Roman" pitchFamily="34" charset="-122"/>
                          <a:cs typeface="Times New Roman" pitchFamily="34" charset="-120"/>
                        </a:rPr>
                        <a:t>Attribution</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a:solidFill>
                            <a:srgbClr val="26333D"/>
                          </a:solidFill>
                          <a:latin typeface="Times New Roman" pitchFamily="34" charset="0"/>
                          <a:ea typeface="Times New Roman" pitchFamily="34" charset="-122"/>
                          <a:cs typeface="Times New Roman" pitchFamily="34" charset="-120"/>
                        </a:rPr>
                        <a:t>Commission des </a:t>
                      </a:r>
                      <a:r>
                        <a:rPr lang="en-US" sz="1250" dirty="0" err="1">
                          <a:solidFill>
                            <a:srgbClr val="26333D"/>
                          </a:solidFill>
                          <a:latin typeface="Times New Roman" pitchFamily="34" charset="0"/>
                          <a:ea typeface="Times New Roman" pitchFamily="34" charset="-122"/>
                          <a:cs typeface="Times New Roman" pitchFamily="34" charset="-120"/>
                        </a:rPr>
                        <a:t>marchés</a:t>
                      </a:r>
                      <a:r>
                        <a:rPr lang="en-US" sz="1250" dirty="0">
                          <a:solidFill>
                            <a:srgbClr val="26333D"/>
                          </a:solidFill>
                          <a:latin typeface="Times New Roman" pitchFamily="34" charset="0"/>
                          <a:ea typeface="Times New Roman" pitchFamily="34" charset="-122"/>
                          <a:cs typeface="Times New Roman" pitchFamily="34" charset="-120"/>
                        </a:rPr>
                        <a:t> · </a:t>
                      </a:r>
                      <a:r>
                        <a:rPr lang="en-US" sz="1250" dirty="0" err="1">
                          <a:solidFill>
                            <a:srgbClr val="26333D"/>
                          </a:solidFill>
                          <a:latin typeface="Times New Roman" pitchFamily="34" charset="0"/>
                          <a:ea typeface="Times New Roman" pitchFamily="34" charset="-122"/>
                          <a:cs typeface="Times New Roman" pitchFamily="34" charset="-120"/>
                        </a:rPr>
                        <a:t>Fournisseur</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err="1">
                          <a:solidFill>
                            <a:srgbClr val="26333D"/>
                          </a:solidFill>
                          <a:latin typeface="Times New Roman" pitchFamily="34" charset="0"/>
                          <a:ea typeface="Times New Roman" pitchFamily="34" charset="-122"/>
                          <a:cs typeface="Times New Roman" pitchFamily="34" charset="-120"/>
                        </a:rPr>
                        <a:t>Dépouiller</a:t>
                      </a:r>
                      <a:r>
                        <a:rPr lang="en-US" sz="1250" dirty="0">
                          <a:solidFill>
                            <a:srgbClr val="26333D"/>
                          </a:solidFill>
                          <a:latin typeface="Times New Roman" pitchFamily="34" charset="0"/>
                          <a:ea typeface="Times New Roman" pitchFamily="34" charset="-122"/>
                          <a:cs typeface="Times New Roman" pitchFamily="34" charset="-120"/>
                        </a:rPr>
                        <a:t> les </a:t>
                      </a:r>
                      <a:r>
                        <a:rPr lang="en-US" sz="1250" dirty="0" err="1">
                          <a:solidFill>
                            <a:srgbClr val="26333D"/>
                          </a:solidFill>
                          <a:latin typeface="Times New Roman" pitchFamily="34" charset="0"/>
                          <a:ea typeface="Times New Roman" pitchFamily="34" charset="-122"/>
                          <a:cs typeface="Times New Roman" pitchFamily="34" charset="-120"/>
                        </a:rPr>
                        <a:t>offres</a:t>
                      </a:r>
                      <a:r>
                        <a:rPr lang="en-US" sz="1250" dirty="0">
                          <a:solidFill>
                            <a:srgbClr val="26333D"/>
                          </a:solidFill>
                          <a:latin typeface="Times New Roman" pitchFamily="34" charset="0"/>
                          <a:ea typeface="Times New Roman" pitchFamily="34" charset="-122"/>
                          <a:cs typeface="Times New Roman" pitchFamily="34" charset="-120"/>
                        </a:rPr>
                        <a:t>, </a:t>
                      </a:r>
                      <a:r>
                        <a:rPr lang="en-US" sz="1250" dirty="0" err="1">
                          <a:solidFill>
                            <a:srgbClr val="26333D"/>
                          </a:solidFill>
                          <a:latin typeface="Times New Roman" pitchFamily="34" charset="0"/>
                          <a:ea typeface="Times New Roman" pitchFamily="34" charset="-122"/>
                          <a:cs typeface="Times New Roman" pitchFamily="34" charset="-120"/>
                        </a:rPr>
                        <a:t>attribuer</a:t>
                      </a:r>
                      <a:r>
                        <a:rPr lang="en-US" sz="1250" dirty="0">
                          <a:solidFill>
                            <a:srgbClr val="26333D"/>
                          </a:solidFill>
                          <a:latin typeface="Times New Roman" pitchFamily="34" charset="0"/>
                          <a:ea typeface="Times New Roman" pitchFamily="34" charset="-122"/>
                          <a:cs typeface="Times New Roman" pitchFamily="34" charset="-120"/>
                        </a:rPr>
                        <a:t> </a:t>
                      </a:r>
                      <a:r>
                        <a:rPr lang="en-US" sz="1250" dirty="0" err="1">
                          <a:solidFill>
                            <a:srgbClr val="26333D"/>
                          </a:solidFill>
                          <a:latin typeface="Times New Roman" pitchFamily="34" charset="0"/>
                          <a:ea typeface="Times New Roman" pitchFamily="34" charset="-122"/>
                          <a:cs typeface="Times New Roman" pitchFamily="34" charset="-120"/>
                        </a:rPr>
                        <a:t>provisoirement</a:t>
                      </a:r>
                      <a:r>
                        <a:rPr lang="en-US" sz="1250" dirty="0">
                          <a:solidFill>
                            <a:srgbClr val="26333D"/>
                          </a:solidFill>
                          <a:latin typeface="Times New Roman" pitchFamily="34" charset="0"/>
                          <a:ea typeface="Times New Roman" pitchFamily="34" charset="-122"/>
                          <a:cs typeface="Times New Roman" pitchFamily="34" charset="-120"/>
                        </a:rPr>
                        <a:t>, </a:t>
                      </a:r>
                      <a:r>
                        <a:rPr lang="en-US" sz="1250" dirty="0" err="1">
                          <a:solidFill>
                            <a:srgbClr val="26333D"/>
                          </a:solidFill>
                          <a:latin typeface="Times New Roman" pitchFamily="34" charset="0"/>
                          <a:ea typeface="Times New Roman" pitchFamily="34" charset="-122"/>
                          <a:cs typeface="Times New Roman" pitchFamily="34" charset="-120"/>
                        </a:rPr>
                        <a:t>introduire</a:t>
                      </a:r>
                      <a:r>
                        <a:rPr lang="en-US" sz="1250" dirty="0">
                          <a:solidFill>
                            <a:srgbClr val="26333D"/>
                          </a:solidFill>
                          <a:latin typeface="Times New Roman" pitchFamily="34" charset="0"/>
                          <a:ea typeface="Times New Roman" pitchFamily="34" charset="-122"/>
                          <a:cs typeface="Times New Roman" pitchFamily="34" charset="-120"/>
                        </a:rPr>
                        <a:t> un </a:t>
                      </a:r>
                      <a:r>
                        <a:rPr lang="en-US" sz="1250" dirty="0" err="1">
                          <a:solidFill>
                            <a:srgbClr val="26333D"/>
                          </a:solidFill>
                          <a:latin typeface="Times New Roman" pitchFamily="34" charset="0"/>
                          <a:ea typeface="Times New Roman" pitchFamily="34" charset="-122"/>
                          <a:cs typeface="Times New Roman" pitchFamily="34" charset="-120"/>
                        </a:rPr>
                        <a:t>recours</a:t>
                      </a:r>
                      <a:r>
                        <a:rPr lang="en-US" sz="1250" dirty="0">
                          <a:solidFill>
                            <a:srgbClr val="26333D"/>
                          </a:solidFill>
                          <a:latin typeface="Times New Roman" pitchFamily="34" charset="0"/>
                          <a:ea typeface="Times New Roman" pitchFamily="34" charset="-122"/>
                          <a:cs typeface="Times New Roman" pitchFamily="34" charset="-120"/>
                        </a:rPr>
                        <a:t>, </a:t>
                      </a:r>
                      <a:r>
                        <a:rPr lang="en-US" sz="1250" dirty="0" err="1">
                          <a:solidFill>
                            <a:srgbClr val="26333D"/>
                          </a:solidFill>
                          <a:latin typeface="Times New Roman" pitchFamily="34" charset="0"/>
                          <a:ea typeface="Times New Roman" pitchFamily="34" charset="-122"/>
                          <a:cs typeface="Times New Roman" pitchFamily="34" charset="-120"/>
                        </a:rPr>
                        <a:t>attribuer</a:t>
                      </a:r>
                      <a:r>
                        <a:rPr lang="en-US" sz="1250" dirty="0">
                          <a:solidFill>
                            <a:srgbClr val="26333D"/>
                          </a:solidFill>
                          <a:latin typeface="Times New Roman" pitchFamily="34" charset="0"/>
                          <a:ea typeface="Times New Roman" pitchFamily="34" charset="-122"/>
                          <a:cs typeface="Times New Roman" pitchFamily="34" charset="-120"/>
                        </a:rPr>
                        <a:t> </a:t>
                      </a:r>
                      <a:r>
                        <a:rPr lang="en-US" sz="1250" dirty="0" err="1">
                          <a:solidFill>
                            <a:srgbClr val="26333D"/>
                          </a:solidFill>
                          <a:latin typeface="Times New Roman" pitchFamily="34" charset="0"/>
                          <a:ea typeface="Times New Roman" pitchFamily="34" charset="-122"/>
                          <a:cs typeface="Times New Roman" pitchFamily="34" charset="-120"/>
                        </a:rPr>
                        <a:t>définitivement</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53611">
                <a:tc>
                  <a:txBody>
                    <a:bodyPr/>
                    <a:lstStyle/>
                    <a:p>
                      <a:pPr marL="0" indent="0">
                        <a:buNone/>
                      </a:pPr>
                      <a:r>
                        <a:rPr lang="en-US" sz="1250" b="1">
                          <a:solidFill>
                            <a:srgbClr val="0B4F6C"/>
                          </a:solidFill>
                          <a:latin typeface="Times New Roman" pitchFamily="34" charset="0"/>
                          <a:ea typeface="Times New Roman" pitchFamily="34" charset="-122"/>
                          <a:cs typeface="Times New Roman" pitchFamily="34" charset="-120"/>
                        </a:rPr>
                        <a:t>Exécution</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a:solidFill>
                            <a:srgbClr val="26333D"/>
                          </a:solidFill>
                          <a:latin typeface="Times New Roman" pitchFamily="34" charset="0"/>
                          <a:ea typeface="Times New Roman" pitchFamily="34" charset="-122"/>
                          <a:cs typeface="Times New Roman" pitchFamily="34" charset="-120"/>
                        </a:rPr>
                        <a:t>Directeur · Commission de réception</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a:solidFill>
                            <a:srgbClr val="26333D"/>
                          </a:solidFill>
                          <a:latin typeface="Times New Roman" pitchFamily="34" charset="0"/>
                          <a:ea typeface="Times New Roman" pitchFamily="34" charset="-122"/>
                          <a:cs typeface="Times New Roman" pitchFamily="34" charset="-120"/>
                        </a:rPr>
                        <a:t>Signer le contrat, suivre et verser une avance, réceptionner, délivrer certificat et payer</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53806">
                <a:tc>
                  <a:txBody>
                    <a:bodyPr/>
                    <a:lstStyle/>
                    <a:p>
                      <a:pPr marL="0" indent="0">
                        <a:buNone/>
                      </a:pPr>
                      <a:r>
                        <a:rPr lang="en-US" sz="1250" b="1" dirty="0">
                          <a:solidFill>
                            <a:srgbClr val="0B4F6C"/>
                          </a:solidFill>
                          <a:latin typeface="Times New Roman" pitchFamily="34" charset="0"/>
                          <a:ea typeface="Times New Roman" pitchFamily="34" charset="-122"/>
                          <a:cs typeface="Times New Roman" pitchFamily="34" charset="-120"/>
                        </a:rPr>
                        <a:t>Pilotage</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a:solidFill>
                            <a:srgbClr val="26333D"/>
                          </a:solidFill>
                          <a:latin typeface="Times New Roman" pitchFamily="34" charset="0"/>
                          <a:ea typeface="Times New Roman" pitchFamily="34" charset="-122"/>
                          <a:cs typeface="Times New Roman" pitchFamily="34" charset="-120"/>
                        </a:rPr>
                        <a:t>Directeur / CSA · Tous les acteurs</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a:solidFill>
                            <a:srgbClr val="26333D"/>
                          </a:solidFill>
                          <a:latin typeface="Times New Roman" pitchFamily="34" charset="0"/>
                          <a:ea typeface="Times New Roman" pitchFamily="34" charset="-122"/>
                          <a:cs typeface="Times New Roman" pitchFamily="34" charset="-120"/>
                        </a:rPr>
                        <a:t>Consulter le tableau de bord, rechercher via le chatbot NLU</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457200" y="6537780"/>
            <a:ext cx="7772400" cy="274320"/>
          </a:xfrm>
          <a:prstGeom prst="rect">
            <a:avLst/>
          </a:prstGeom>
          <a:noFill/>
          <a:ln/>
        </p:spPr>
        <p:txBody>
          <a:bodyPr wrap="square" rtlCol="0" anchor="ctr"/>
          <a:lstStyle/>
          <a:p>
            <a:pPr marL="0" indent="0" algn="l">
              <a:buNone/>
            </a:pPr>
            <a:r>
              <a:rPr lang="en-US" sz="1000" dirty="0">
                <a:solidFill>
                  <a:srgbClr val="5C7480"/>
                </a:solidFill>
                <a:latin typeface="Times New Roman" pitchFamily="34" charset="0"/>
                <a:ea typeface="Times New Roman" pitchFamily="34" charset="-122"/>
                <a:cs typeface="Times New Roman" pitchFamily="34" charset="-120"/>
              </a:rPr>
              <a:t>SIGMAE — Cahier de spécification technique · Modélisation UML</a:t>
            </a:r>
            <a:endParaRPr lang="en-US" sz="1000" dirty="0"/>
          </a:p>
        </p:txBody>
      </p:sp>
      <p:sp>
        <p:nvSpPr>
          <p:cNvPr id="6" name="Text 3"/>
          <p:cNvSpPr/>
          <p:nvPr/>
        </p:nvSpPr>
        <p:spPr>
          <a:xfrm>
            <a:off x="10241280" y="6528816"/>
            <a:ext cx="1490472" cy="274320"/>
          </a:xfrm>
          <a:prstGeom prst="rect">
            <a:avLst/>
          </a:prstGeom>
          <a:noFill/>
          <a:ln/>
        </p:spPr>
        <p:txBody>
          <a:bodyPr wrap="square" rtlCol="0" anchor="ctr"/>
          <a:lstStyle/>
          <a:p>
            <a:pPr marL="0" indent="0" algn="r">
              <a:buNone/>
            </a:pPr>
            <a:r>
              <a:rPr lang="en-US" sz="1000" dirty="0">
                <a:solidFill>
                  <a:srgbClr val="5C7480"/>
                </a:solidFill>
                <a:latin typeface="Times New Roman" pitchFamily="34" charset="0"/>
                <a:cs typeface="Times New Roman"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144000" cy="292608"/>
          </a:xfrm>
          <a:prstGeom prst="rect">
            <a:avLst/>
          </a:prstGeom>
          <a:noFill/>
          <a:ln/>
        </p:spPr>
        <p:txBody>
          <a:bodyPr wrap="square" rtlCol="0" anchor="ctr"/>
          <a:lstStyle/>
          <a:p>
            <a:pPr marL="0" indent="0">
              <a:buNone/>
            </a:pPr>
            <a:r>
              <a:rPr lang="en-US" b="1" kern="0" spc="200" dirty="0">
                <a:solidFill>
                  <a:srgbClr val="D98E32"/>
                </a:solidFill>
                <a:latin typeface="Times New Roman" pitchFamily="34" charset="0"/>
                <a:ea typeface="Times New Roman" pitchFamily="34" charset="-122"/>
                <a:cs typeface="Times New Roman" pitchFamily="34" charset="-120"/>
              </a:rPr>
              <a:t>MODÈLE DE DOMAINE</a:t>
            </a:r>
            <a:endParaRPr lang="en-US" dirty="0"/>
          </a:p>
        </p:txBody>
      </p:sp>
      <p:sp>
        <p:nvSpPr>
          <p:cNvPr id="3" name="Text 1"/>
          <p:cNvSpPr/>
          <p:nvPr/>
        </p:nvSpPr>
        <p:spPr>
          <a:xfrm>
            <a:off x="530352" y="530352"/>
            <a:ext cx="10424160" cy="603504"/>
          </a:xfrm>
          <a:prstGeom prst="rect">
            <a:avLst/>
          </a:prstGeom>
          <a:noFill/>
          <a:ln/>
        </p:spPr>
        <p:txBody>
          <a:bodyPr wrap="square" rtlCol="0" anchor="ctr"/>
          <a:lstStyle/>
          <a:p>
            <a:pPr marL="0" indent="0">
              <a:buNone/>
            </a:pPr>
            <a:r>
              <a:rPr lang="en-US" sz="3200" b="1" dirty="0">
                <a:solidFill>
                  <a:srgbClr val="0B4F6C"/>
                </a:solidFill>
                <a:latin typeface="Times New Roman" pitchFamily="34" charset="0"/>
                <a:ea typeface="Times New Roman" pitchFamily="34" charset="-122"/>
                <a:cs typeface="Times New Roman" pitchFamily="34" charset="-120"/>
              </a:rPr>
              <a:t>Diagramme de classes</a:t>
            </a:r>
            <a:endParaRPr lang="en-US" sz="3200" dirty="0"/>
          </a:p>
        </p:txBody>
      </p:sp>
      <p:sp>
        <p:nvSpPr>
          <p:cNvPr id="4" name="Shape 2"/>
          <p:cNvSpPr/>
          <p:nvPr/>
        </p:nvSpPr>
        <p:spPr>
          <a:xfrm>
            <a:off x="9921240" y="329184"/>
            <a:ext cx="1828800" cy="475488"/>
          </a:xfrm>
          <a:prstGeom prst="hexagon">
            <a:avLst/>
          </a:prstGeom>
          <a:solidFill>
            <a:srgbClr val="0B4F6C"/>
          </a:solidFill>
          <a:ln/>
        </p:spPr>
      </p:sp>
      <p:sp>
        <p:nvSpPr>
          <p:cNvPr id="5" name="Text 3"/>
          <p:cNvSpPr/>
          <p:nvPr/>
        </p:nvSpPr>
        <p:spPr>
          <a:xfrm>
            <a:off x="9921240" y="329184"/>
            <a:ext cx="1828800" cy="475488"/>
          </a:xfrm>
          <a:prstGeom prst="rect">
            <a:avLst/>
          </a:prstGeom>
          <a:noFill/>
          <a:ln/>
        </p:spPr>
        <p:txBody>
          <a:bodyPr wrap="square"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Figure 2</a:t>
            </a:r>
            <a:endParaRPr lang="en-US" sz="1400" dirty="0"/>
          </a:p>
        </p:txBody>
      </p:sp>
      <p:sp>
        <p:nvSpPr>
          <p:cNvPr id="6" name="Shape 4"/>
          <p:cNvSpPr/>
          <p:nvPr/>
        </p:nvSpPr>
        <p:spPr>
          <a:xfrm>
            <a:off x="0" y="1187646"/>
            <a:ext cx="9540826" cy="5413248"/>
          </a:xfrm>
          <a:prstGeom prst="roundRect">
            <a:avLst>
              <a:gd name="adj" fmla="val 1980"/>
            </a:avLst>
          </a:prstGeom>
          <a:solidFill>
            <a:srgbClr val="FFFFFF"/>
          </a:solidFill>
          <a:ln w="12700">
            <a:solidFill>
              <a:srgbClr val="BFE0EA"/>
            </a:solidFill>
            <a:prstDash val="solid"/>
          </a:ln>
          <a:effectLst>
            <a:outerShdw blurRad="101600" dist="38100" dir="5400000" algn="bl" rotWithShape="0">
              <a:srgbClr val="0B4F6C">
                <a:alpha val="18000"/>
              </a:srgbClr>
            </a:outerShdw>
          </a:effectLst>
        </p:spPr>
      </p:sp>
      <p:pic>
        <p:nvPicPr>
          <p:cNvPr id="7" name="Image 0" descr="f3_classes.png"/>
          <p:cNvPicPr>
            <a:picLocks noChangeAspect="1"/>
          </p:cNvPicPr>
          <p:nvPr/>
        </p:nvPicPr>
        <p:blipFill>
          <a:blip r:embed="rId3"/>
          <a:stretch>
            <a:fillRect/>
          </a:stretch>
        </p:blipFill>
        <p:spPr>
          <a:xfrm>
            <a:off x="3177" y="1505353"/>
            <a:ext cx="9537649" cy="4743047"/>
          </a:xfrm>
          <a:prstGeom prst="rect">
            <a:avLst/>
          </a:prstGeom>
        </p:spPr>
      </p:pic>
      <p:sp>
        <p:nvSpPr>
          <p:cNvPr id="11" name="Text 8"/>
          <p:cNvSpPr/>
          <p:nvPr/>
        </p:nvSpPr>
        <p:spPr>
          <a:xfrm>
            <a:off x="457200" y="6591571"/>
            <a:ext cx="7772400" cy="274320"/>
          </a:xfrm>
          <a:prstGeom prst="rect">
            <a:avLst/>
          </a:prstGeom>
          <a:noFill/>
          <a:ln/>
        </p:spPr>
        <p:txBody>
          <a:bodyPr wrap="square" rtlCol="0" anchor="ctr"/>
          <a:lstStyle/>
          <a:p>
            <a:pPr marL="0" indent="0" algn="l">
              <a:buNone/>
            </a:pPr>
            <a:r>
              <a:rPr lang="en-US" sz="1000" dirty="0">
                <a:solidFill>
                  <a:srgbClr val="5C7480"/>
                </a:solidFill>
                <a:latin typeface="Times New Roman" pitchFamily="34" charset="0"/>
                <a:ea typeface="Times New Roman" pitchFamily="34" charset="-122"/>
                <a:cs typeface="Times New Roman" pitchFamily="34" charset="-120"/>
              </a:rPr>
              <a:t>SIGMAE — Cahier de spécification technique · Modélisation UML</a:t>
            </a:r>
            <a:endParaRPr lang="en-US" sz="1000" dirty="0"/>
          </a:p>
        </p:txBody>
      </p:sp>
      <p:sp>
        <p:nvSpPr>
          <p:cNvPr id="12" name="Text 9"/>
          <p:cNvSpPr/>
          <p:nvPr/>
        </p:nvSpPr>
        <p:spPr>
          <a:xfrm>
            <a:off x="10241280" y="6537781"/>
            <a:ext cx="1490472" cy="274320"/>
          </a:xfrm>
          <a:prstGeom prst="rect">
            <a:avLst/>
          </a:prstGeom>
          <a:noFill/>
          <a:ln/>
        </p:spPr>
        <p:txBody>
          <a:bodyPr wrap="square" rtlCol="0" anchor="ctr"/>
          <a:lstStyle/>
          <a:p>
            <a:pPr marL="0" indent="0" algn="r">
              <a:buNone/>
            </a:pPr>
            <a:r>
              <a:rPr lang="en-US" sz="1000" dirty="0">
                <a:solidFill>
                  <a:srgbClr val="5C7480"/>
                </a:solidFill>
                <a:latin typeface="Times New Roman" pitchFamily="34" charset="0"/>
                <a:cs typeface="Times New Roman" pitchFamily="34" charset="-120"/>
              </a:rPr>
              <a:t>6</a:t>
            </a:r>
            <a:endParaRPr lang="en-US" sz="1000" dirty="0"/>
          </a:p>
        </p:txBody>
      </p:sp>
      <p:sp>
        <p:nvSpPr>
          <p:cNvPr id="13" name="Shape 5">
            <a:extLst>
              <a:ext uri="{FF2B5EF4-FFF2-40B4-BE49-F238E27FC236}">
                <a16:creationId xmlns:a16="http://schemas.microsoft.com/office/drawing/2014/main" id="{B56B599B-A3FE-460D-9633-862221BE376B}"/>
              </a:ext>
            </a:extLst>
          </p:cNvPr>
          <p:cNvSpPr/>
          <p:nvPr/>
        </p:nvSpPr>
        <p:spPr>
          <a:xfrm>
            <a:off x="9681346" y="1284464"/>
            <a:ext cx="323266" cy="320578"/>
          </a:xfrm>
          <a:prstGeom prst="ellipse">
            <a:avLst/>
          </a:prstGeom>
          <a:solidFill>
            <a:srgbClr val="D98E32"/>
          </a:solidFill>
          <a:ln/>
        </p:spPr>
        <p:txBody>
          <a:bodyPr/>
          <a:lstStyle/>
          <a:p>
            <a:endParaRPr lang="fr-FR" dirty="0"/>
          </a:p>
        </p:txBody>
      </p:sp>
      <p:sp>
        <p:nvSpPr>
          <p:cNvPr id="14" name="Text 6">
            <a:extLst>
              <a:ext uri="{FF2B5EF4-FFF2-40B4-BE49-F238E27FC236}">
                <a16:creationId xmlns:a16="http://schemas.microsoft.com/office/drawing/2014/main" id="{D5E049C2-D1B7-4FD7-B485-ECC465154020}"/>
              </a:ext>
            </a:extLst>
          </p:cNvPr>
          <p:cNvSpPr/>
          <p:nvPr/>
        </p:nvSpPr>
        <p:spPr>
          <a:xfrm>
            <a:off x="10004612" y="1223951"/>
            <a:ext cx="2360045" cy="435326"/>
          </a:xfrm>
          <a:prstGeom prst="rect">
            <a:avLst/>
          </a:prstGeom>
          <a:noFill/>
          <a:ln/>
        </p:spPr>
        <p:txBody>
          <a:bodyPr wrap="square" rtlCol="0" anchor="ctr"/>
          <a:lstStyle/>
          <a:p>
            <a:pPr marL="0" indent="0">
              <a:buNone/>
            </a:pPr>
            <a:r>
              <a:rPr lang="en-US" sz="1600" b="1" dirty="0">
                <a:solidFill>
                  <a:srgbClr val="0B4F6C"/>
                </a:solidFill>
                <a:latin typeface="Times New Roman" pitchFamily="34" charset="0"/>
                <a:ea typeface="Times New Roman" pitchFamily="34" charset="-122"/>
                <a:cs typeface="Times New Roman" pitchFamily="34" charset="-120"/>
              </a:rPr>
              <a:t>Lecture du diagramme</a:t>
            </a:r>
            <a:endParaRPr lang="en-US" sz="1600" dirty="0"/>
          </a:p>
        </p:txBody>
      </p:sp>
      <p:sp>
        <p:nvSpPr>
          <p:cNvPr id="15" name="Text 7">
            <a:extLst>
              <a:ext uri="{FF2B5EF4-FFF2-40B4-BE49-F238E27FC236}">
                <a16:creationId xmlns:a16="http://schemas.microsoft.com/office/drawing/2014/main" id="{8D184151-133E-43DB-9B95-AE7493C5657C}"/>
              </a:ext>
            </a:extLst>
          </p:cNvPr>
          <p:cNvSpPr/>
          <p:nvPr/>
        </p:nvSpPr>
        <p:spPr>
          <a:xfrm>
            <a:off x="9681346" y="1722837"/>
            <a:ext cx="2428180" cy="4593695"/>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rgbClr val="26333D"/>
                </a:solidFill>
                <a:latin typeface="Times New Roman" pitchFamily="34" charset="0"/>
                <a:ea typeface="Times New Roman" pitchFamily="34" charset="-122"/>
                <a:cs typeface="Times New Roman" pitchFamily="34" charset="-120"/>
              </a:rPr>
              <a:t>Le modèle de domaine est organisé en cinq zones de service : Utilisateurs, Besoins, Marchés, Fournisseurs et Exécution — chacune alignée sur un microservice.</a:t>
            </a:r>
            <a:endParaRPr lang="en-US" sz="1600" dirty="0"/>
          </a:p>
          <a:p>
            <a:pPr marL="177800" indent="-177800">
              <a:spcAft>
                <a:spcPts val="800"/>
              </a:spcAft>
              <a:buSzPct val="100000"/>
              <a:buChar char="•"/>
            </a:pPr>
            <a:r>
              <a:rPr lang="en-US" sz="1600" dirty="0">
                <a:solidFill>
                  <a:srgbClr val="26333D"/>
                </a:solidFill>
                <a:latin typeface="Times New Roman" pitchFamily="34" charset="0"/>
                <a:ea typeface="Times New Roman" pitchFamily="34" charset="-122"/>
                <a:cs typeface="Times New Roman" pitchFamily="34" charset="-120"/>
              </a:rPr>
              <a:t>Les associations en trait plein représentent des compositions ou agrégations au sein d'un même service ; les associations en tirets représentent des références inter-services par identifiants partagés, conformément au standard UML 2.5.</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144000" cy="292608"/>
          </a:xfrm>
          <a:prstGeom prst="rect">
            <a:avLst/>
          </a:prstGeom>
          <a:noFill/>
          <a:ln/>
        </p:spPr>
        <p:txBody>
          <a:bodyPr wrap="square" rtlCol="0" anchor="ctr"/>
          <a:lstStyle/>
          <a:p>
            <a:pPr marL="0" indent="0">
              <a:buNone/>
            </a:pPr>
            <a:r>
              <a:rPr lang="en-US" b="1" kern="0" spc="200" dirty="0">
                <a:solidFill>
                  <a:srgbClr val="D98E32"/>
                </a:solidFill>
                <a:latin typeface="Times New Roman" pitchFamily="34" charset="0"/>
                <a:ea typeface="Times New Roman" pitchFamily="34" charset="-122"/>
                <a:cs typeface="Times New Roman" pitchFamily="34" charset="-120"/>
              </a:rPr>
              <a:t>MODÈLE DE DOMAINE</a:t>
            </a:r>
            <a:endParaRPr lang="en-US" dirty="0"/>
          </a:p>
        </p:txBody>
      </p:sp>
      <p:sp>
        <p:nvSpPr>
          <p:cNvPr id="3" name="Text 1"/>
          <p:cNvSpPr/>
          <p:nvPr/>
        </p:nvSpPr>
        <p:spPr>
          <a:xfrm>
            <a:off x="530352" y="530352"/>
            <a:ext cx="10424160" cy="603504"/>
          </a:xfrm>
          <a:prstGeom prst="rect">
            <a:avLst/>
          </a:prstGeom>
          <a:noFill/>
          <a:ln/>
        </p:spPr>
        <p:txBody>
          <a:bodyPr wrap="square" rtlCol="0" anchor="ctr"/>
          <a:lstStyle/>
          <a:p>
            <a:pPr marL="0" indent="0">
              <a:buNone/>
            </a:pPr>
            <a:r>
              <a:rPr lang="en-US" sz="3200" b="1" dirty="0">
                <a:solidFill>
                  <a:srgbClr val="0B4F6C"/>
                </a:solidFill>
                <a:latin typeface="Times New Roman" pitchFamily="34" charset="0"/>
                <a:ea typeface="Times New Roman" pitchFamily="34" charset="-122"/>
                <a:cs typeface="Times New Roman" pitchFamily="34" charset="-120"/>
              </a:rPr>
              <a:t>Classes principales par service</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5074920"/>
        </p:xfrm>
        <a:graphic>
          <a:graphicData uri="http://schemas.openxmlformats.org/drawingml/2006/table">
            <a:tbl>
              <a:tblPr/>
              <a:tblGrid>
                <a:gridCol w="173736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530352">
                <a:tc>
                  <a:txBody>
                    <a:bodyPr/>
                    <a:lstStyle/>
                    <a:p>
                      <a:pPr marL="0" indent="0">
                        <a:buNone/>
                      </a:pPr>
                      <a:r>
                        <a:rPr lang="en-US" sz="1400" b="1" dirty="0">
                          <a:solidFill>
                            <a:srgbClr val="FFFFFF"/>
                          </a:solidFill>
                          <a:latin typeface="Times New Roman" pitchFamily="34" charset="0"/>
                          <a:ea typeface="Times New Roman" pitchFamily="34" charset="-122"/>
                          <a:cs typeface="Times New Roman" pitchFamily="34" charset="-120"/>
                        </a:rPr>
                        <a:t>Service</a:t>
                      </a:r>
                      <a:endParaRPr lang="en-US" sz="140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0B4F6C"/>
                    </a:solidFill>
                  </a:tcPr>
                </a:tc>
                <a:tc>
                  <a:txBody>
                    <a:bodyPr/>
                    <a:lstStyle/>
                    <a:p>
                      <a:pPr marL="0" indent="0">
                        <a:buNone/>
                      </a:pPr>
                      <a:r>
                        <a:rPr lang="en-US" sz="1400" b="1" dirty="0">
                          <a:solidFill>
                            <a:srgbClr val="FFFFFF"/>
                          </a:solidFill>
                          <a:latin typeface="Times New Roman" pitchFamily="34" charset="0"/>
                          <a:ea typeface="Times New Roman" pitchFamily="34" charset="-122"/>
                          <a:cs typeface="Times New Roman" pitchFamily="34" charset="-120"/>
                        </a:rPr>
                        <a:t>Classes métier</a:t>
                      </a:r>
                      <a:endParaRPr lang="en-US" sz="140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0B4F6C"/>
                    </a:solidFill>
                  </a:tcPr>
                </a:tc>
                <a:tc>
                  <a:txBody>
                    <a:bodyPr/>
                    <a:lstStyle/>
                    <a:p>
                      <a:pPr marL="0" indent="0">
                        <a:buNone/>
                      </a:pPr>
                      <a:r>
                        <a:rPr lang="en-US" sz="1400" b="1" dirty="0">
                          <a:solidFill>
                            <a:srgbClr val="FFFFFF"/>
                          </a:solidFill>
                          <a:latin typeface="Times New Roman" pitchFamily="34" charset="0"/>
                          <a:ea typeface="Times New Roman" pitchFamily="34" charset="-122"/>
                          <a:cs typeface="Times New Roman" pitchFamily="34" charset="-120"/>
                        </a:rPr>
                        <a:t>Rôle</a:t>
                      </a:r>
                      <a:endParaRPr lang="en-US" sz="140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0B4F6C"/>
                    </a:solidFill>
                  </a:tcPr>
                </a:tc>
                <a:extLst>
                  <a:ext uri="{0D108BD9-81ED-4DB2-BD59-A6C34878D82A}">
                    <a16:rowId xmlns:a16="http://schemas.microsoft.com/office/drawing/2014/main" val="10000"/>
                  </a:ext>
                </a:extLst>
              </a:tr>
              <a:tr h="822960">
                <a:tc>
                  <a:txBody>
                    <a:bodyPr/>
                    <a:lstStyle/>
                    <a:p>
                      <a:pPr marL="0" indent="0">
                        <a:buNone/>
                      </a:pPr>
                      <a:r>
                        <a:rPr lang="en-US" sz="1250" b="1" dirty="0">
                          <a:solidFill>
                            <a:srgbClr val="0B4F6C"/>
                          </a:solidFill>
                          <a:latin typeface="Times New Roman" pitchFamily="34" charset="0"/>
                          <a:ea typeface="Times New Roman" pitchFamily="34" charset="-122"/>
                          <a:cs typeface="Times New Roman" pitchFamily="34" charset="-120"/>
                        </a:rPr>
                        <a:t>Utilisateurs</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a:solidFill>
                            <a:srgbClr val="26333D"/>
                          </a:solidFill>
                          <a:latin typeface="Times New Roman" pitchFamily="34" charset="0"/>
                          <a:ea typeface="Times New Roman" pitchFamily="34" charset="-122"/>
                          <a:cs typeface="Times New Roman" pitchFamily="34" charset="-120"/>
                        </a:rPr>
                        <a:t>Utilisateur, Rôle</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a:solidFill>
                            <a:srgbClr val="26333D"/>
                          </a:solidFill>
                          <a:latin typeface="Times New Roman" pitchFamily="34" charset="0"/>
                          <a:ea typeface="Times New Roman" pitchFamily="34" charset="-122"/>
                          <a:cs typeface="Times New Roman" pitchFamily="34" charset="-120"/>
                        </a:rPr>
                        <a:t>Comptes et rôles fonctionnels (RBAC)</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marL="0" indent="0">
                        <a:buNone/>
                      </a:pPr>
                      <a:r>
                        <a:rPr lang="en-US" sz="1250" b="1" dirty="0">
                          <a:solidFill>
                            <a:srgbClr val="0B4F6C"/>
                          </a:solidFill>
                          <a:latin typeface="Times New Roman" pitchFamily="34" charset="0"/>
                          <a:ea typeface="Times New Roman" pitchFamily="34" charset="-122"/>
                          <a:cs typeface="Times New Roman" pitchFamily="34" charset="-120"/>
                        </a:rPr>
                        <a:t>Besoins</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a:solidFill>
                            <a:srgbClr val="26333D"/>
                          </a:solidFill>
                          <a:latin typeface="Times New Roman" pitchFamily="34" charset="0"/>
                          <a:ea typeface="Times New Roman" pitchFamily="34" charset="-122"/>
                          <a:cs typeface="Times New Roman" pitchFamily="34" charset="-120"/>
                        </a:rPr>
                        <a:t>FicheExpressionBesoin, Besoin</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a:solidFill>
                            <a:srgbClr val="26333D"/>
                          </a:solidFill>
                          <a:latin typeface="Times New Roman" pitchFamily="34" charset="0"/>
                          <a:ea typeface="Times New Roman" pitchFamily="34" charset="-122"/>
                          <a:cs typeface="Times New Roman" pitchFamily="34" charset="-120"/>
                        </a:rPr>
                        <a:t>Collecte des besoins par campagne</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43000">
                <a:tc>
                  <a:txBody>
                    <a:bodyPr/>
                    <a:lstStyle/>
                    <a:p>
                      <a:pPr marL="0" indent="0">
                        <a:buNone/>
                      </a:pPr>
                      <a:r>
                        <a:rPr lang="en-US" sz="1250" b="1" dirty="0">
                          <a:solidFill>
                            <a:srgbClr val="0B4F6C"/>
                          </a:solidFill>
                          <a:latin typeface="Times New Roman" pitchFamily="34" charset="0"/>
                          <a:ea typeface="Times New Roman" pitchFamily="34" charset="-122"/>
                          <a:cs typeface="Times New Roman" pitchFamily="34" charset="-120"/>
                        </a:rPr>
                        <a:t>Marchés</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a:solidFill>
                            <a:srgbClr val="26333D"/>
                          </a:solidFill>
                          <a:latin typeface="Times New Roman" pitchFamily="34" charset="0"/>
                          <a:ea typeface="Times New Roman" pitchFamily="34" charset="-122"/>
                          <a:cs typeface="Times New Roman" pitchFamily="34" charset="-120"/>
                        </a:rPr>
                        <a:t>Marche, AppelOffre, CahierDesCharges, Offre, Depouillement, Attribution, Recours</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a:solidFill>
                            <a:srgbClr val="26333D"/>
                          </a:solidFill>
                          <a:latin typeface="Times New Roman" pitchFamily="34" charset="0"/>
                          <a:ea typeface="Times New Roman" pitchFamily="34" charset="-122"/>
                          <a:cs typeface="Times New Roman" pitchFamily="34" charset="-120"/>
                        </a:rPr>
                        <a:t>Montage, consultation, dépouillement et attribution</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22960">
                <a:tc>
                  <a:txBody>
                    <a:bodyPr/>
                    <a:lstStyle/>
                    <a:p>
                      <a:pPr marL="0" indent="0">
                        <a:buNone/>
                      </a:pPr>
                      <a:r>
                        <a:rPr lang="en-US" sz="1250" b="1" dirty="0">
                          <a:solidFill>
                            <a:srgbClr val="0B4F6C"/>
                          </a:solidFill>
                          <a:latin typeface="Times New Roman" pitchFamily="34" charset="0"/>
                          <a:ea typeface="Times New Roman" pitchFamily="34" charset="-122"/>
                          <a:cs typeface="Times New Roman" pitchFamily="34" charset="-120"/>
                        </a:rPr>
                        <a:t>Fournisseurs</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a:solidFill>
                            <a:srgbClr val="26333D"/>
                          </a:solidFill>
                          <a:latin typeface="Times New Roman" pitchFamily="34" charset="0"/>
                          <a:ea typeface="Times New Roman" pitchFamily="34" charset="-122"/>
                          <a:cs typeface="Times New Roman" pitchFamily="34" charset="-120"/>
                        </a:rPr>
                        <a:t>Fournisseur, ArticleCatalogue</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a:solidFill>
                            <a:srgbClr val="26333D"/>
                          </a:solidFill>
                          <a:latin typeface="Times New Roman" pitchFamily="34" charset="0"/>
                          <a:ea typeface="Times New Roman" pitchFamily="34" charset="-122"/>
                          <a:cs typeface="Times New Roman" pitchFamily="34" charset="-120"/>
                        </a:rPr>
                        <a:t>Référentiel fournisseurs et prix unitaires historisés</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32688">
                <a:tc>
                  <a:txBody>
                    <a:bodyPr/>
                    <a:lstStyle/>
                    <a:p>
                      <a:pPr marL="0" indent="0">
                        <a:buNone/>
                      </a:pPr>
                      <a:r>
                        <a:rPr lang="en-US" sz="1250" b="1" dirty="0">
                          <a:solidFill>
                            <a:srgbClr val="0B4F6C"/>
                          </a:solidFill>
                          <a:latin typeface="Times New Roman" pitchFamily="34" charset="0"/>
                          <a:ea typeface="Times New Roman" pitchFamily="34" charset="-122"/>
                          <a:cs typeface="Times New Roman" pitchFamily="34" charset="-120"/>
                        </a:rPr>
                        <a:t>Exécution</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a:solidFill>
                            <a:srgbClr val="26333D"/>
                          </a:solidFill>
                          <a:latin typeface="Times New Roman" pitchFamily="34" charset="0"/>
                          <a:ea typeface="Times New Roman" pitchFamily="34" charset="-122"/>
                          <a:cs typeface="Times New Roman" pitchFamily="34" charset="-120"/>
                        </a:rPr>
                        <a:t>Contrat, Avance, Livraison, PVReception, CertificatBonneExec, Paiement</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tc>
                  <a:txBody>
                    <a:bodyPr/>
                    <a:lstStyle/>
                    <a:p>
                      <a:pPr marL="0" indent="0">
                        <a:buNone/>
                      </a:pPr>
                      <a:r>
                        <a:rPr lang="en-US" sz="1250" dirty="0">
                          <a:solidFill>
                            <a:srgbClr val="26333D"/>
                          </a:solidFill>
                          <a:latin typeface="Times New Roman" pitchFamily="34" charset="0"/>
                          <a:ea typeface="Times New Roman" pitchFamily="34" charset="-122"/>
                          <a:cs typeface="Times New Roman" pitchFamily="34" charset="-120"/>
                        </a:rPr>
                        <a:t>Contractualisation jusqu'au paiement final</a:t>
                      </a:r>
                      <a:endParaRPr lang="en-US" sz="1250" dirty="0">
                        <a:latin typeface="Times New Roman" charset="0"/>
                        <a:ea typeface="Times New Roman" charset="0"/>
                        <a:cs typeface="Times New Roman" charset="0"/>
                      </a:endParaRPr>
                    </a:p>
                  </a:txBody>
                  <a:tcPr anchor="ctr">
                    <a:lnL w="12700" cap="flat" cmpd="sng" algn="ctr">
                      <a:solidFill>
                        <a:srgbClr val="DCE7EC"/>
                      </a:solidFill>
                      <a:prstDash val="solid"/>
                      <a:round/>
                      <a:headEnd type="none" w="med" len="med"/>
                      <a:tailEnd type="none" w="med" len="med"/>
                    </a:lnL>
                    <a:lnR w="12700" cap="flat" cmpd="sng" algn="ctr">
                      <a:solidFill>
                        <a:srgbClr val="DCE7EC"/>
                      </a:solidFill>
                      <a:prstDash val="solid"/>
                      <a:round/>
                      <a:headEnd type="none" w="med" len="med"/>
                      <a:tailEnd type="none" w="med" len="med"/>
                    </a:lnR>
                    <a:lnT w="12700" cap="flat" cmpd="sng" algn="ctr">
                      <a:solidFill>
                        <a:srgbClr val="DCE7EC"/>
                      </a:solidFill>
                      <a:prstDash val="solid"/>
                      <a:round/>
                      <a:headEnd type="none" w="med" len="med"/>
                      <a:tailEnd type="none" w="med" len="med"/>
                    </a:lnT>
                    <a:lnB w="12700" cap="flat" cmpd="sng" algn="ctr">
                      <a:solidFill>
                        <a:srgbClr val="DCE7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457200" y="6528816"/>
            <a:ext cx="7772400" cy="274320"/>
          </a:xfrm>
          <a:prstGeom prst="rect">
            <a:avLst/>
          </a:prstGeom>
          <a:noFill/>
          <a:ln/>
        </p:spPr>
        <p:txBody>
          <a:bodyPr wrap="square" rtlCol="0" anchor="ctr"/>
          <a:lstStyle/>
          <a:p>
            <a:pPr marL="0" indent="0" algn="l">
              <a:buNone/>
            </a:pPr>
            <a:r>
              <a:rPr lang="en-US" sz="1000" dirty="0">
                <a:solidFill>
                  <a:srgbClr val="5C7480"/>
                </a:solidFill>
                <a:latin typeface="Times New Roman" pitchFamily="34" charset="0"/>
                <a:ea typeface="Times New Roman" pitchFamily="34" charset="-122"/>
                <a:cs typeface="Times New Roman" pitchFamily="34" charset="-120"/>
              </a:rPr>
              <a:t>SIGMAE — Cahier de spécification technique · Modélisation UML</a:t>
            </a:r>
            <a:endParaRPr lang="en-US" sz="1000" dirty="0"/>
          </a:p>
        </p:txBody>
      </p:sp>
      <p:sp>
        <p:nvSpPr>
          <p:cNvPr id="6" name="Text 3"/>
          <p:cNvSpPr/>
          <p:nvPr/>
        </p:nvSpPr>
        <p:spPr>
          <a:xfrm>
            <a:off x="10241280" y="6528816"/>
            <a:ext cx="1490472" cy="274320"/>
          </a:xfrm>
          <a:prstGeom prst="rect">
            <a:avLst/>
          </a:prstGeom>
          <a:noFill/>
          <a:ln/>
        </p:spPr>
        <p:txBody>
          <a:bodyPr wrap="square" rtlCol="0" anchor="ctr"/>
          <a:lstStyle/>
          <a:p>
            <a:pPr marL="0" indent="0" algn="r">
              <a:buNone/>
            </a:pPr>
            <a:r>
              <a:rPr lang="en-US" sz="1000" dirty="0">
                <a:solidFill>
                  <a:srgbClr val="5C7480"/>
                </a:solidFill>
                <a:latin typeface="Times New Roman" pitchFamily="34" charset="0"/>
                <a:cs typeface="Times New Roman"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144000" cy="292608"/>
          </a:xfrm>
          <a:prstGeom prst="rect">
            <a:avLst/>
          </a:prstGeom>
          <a:noFill/>
          <a:ln/>
        </p:spPr>
        <p:txBody>
          <a:bodyPr wrap="square" rtlCol="0" anchor="ctr"/>
          <a:lstStyle/>
          <a:p>
            <a:pPr marL="0" indent="0">
              <a:buNone/>
            </a:pPr>
            <a:r>
              <a:rPr lang="en-US" b="1" kern="0" spc="200" dirty="0">
                <a:solidFill>
                  <a:srgbClr val="D98E32"/>
                </a:solidFill>
                <a:latin typeface="Times New Roman" pitchFamily="34" charset="0"/>
                <a:ea typeface="Times New Roman" pitchFamily="34" charset="-122"/>
                <a:cs typeface="Times New Roman" pitchFamily="34" charset="-120"/>
              </a:rPr>
              <a:t>CYCLE DE VIE D'UN MARCHÉ</a:t>
            </a:r>
            <a:endParaRPr lang="en-US" dirty="0"/>
          </a:p>
        </p:txBody>
      </p:sp>
      <p:sp>
        <p:nvSpPr>
          <p:cNvPr id="3" name="Text 1"/>
          <p:cNvSpPr/>
          <p:nvPr/>
        </p:nvSpPr>
        <p:spPr>
          <a:xfrm>
            <a:off x="530352" y="530352"/>
            <a:ext cx="10424160" cy="603504"/>
          </a:xfrm>
          <a:prstGeom prst="rect">
            <a:avLst/>
          </a:prstGeom>
          <a:noFill/>
          <a:ln/>
        </p:spPr>
        <p:txBody>
          <a:bodyPr wrap="square" rtlCol="0" anchor="ctr"/>
          <a:lstStyle/>
          <a:p>
            <a:pPr marL="0" indent="0">
              <a:buNone/>
            </a:pPr>
            <a:r>
              <a:rPr lang="en-US" sz="3200" b="1" dirty="0">
                <a:solidFill>
                  <a:srgbClr val="0B4F6C"/>
                </a:solidFill>
                <a:latin typeface="Times New Roman" pitchFamily="34" charset="0"/>
                <a:ea typeface="Times New Roman" pitchFamily="34" charset="-122"/>
                <a:cs typeface="Times New Roman" pitchFamily="34" charset="-120"/>
              </a:rPr>
              <a:t>Diagramme d'états</a:t>
            </a:r>
            <a:endParaRPr lang="en-US" sz="3200" dirty="0"/>
          </a:p>
        </p:txBody>
      </p:sp>
      <p:sp>
        <p:nvSpPr>
          <p:cNvPr id="4" name="Shape 2"/>
          <p:cNvSpPr/>
          <p:nvPr/>
        </p:nvSpPr>
        <p:spPr>
          <a:xfrm>
            <a:off x="9921240" y="329184"/>
            <a:ext cx="1828800" cy="475488"/>
          </a:xfrm>
          <a:prstGeom prst="hexagon">
            <a:avLst/>
          </a:prstGeom>
          <a:solidFill>
            <a:srgbClr val="0B4F6C"/>
          </a:solidFill>
          <a:ln/>
        </p:spPr>
      </p:sp>
      <p:sp>
        <p:nvSpPr>
          <p:cNvPr id="5" name="Text 3"/>
          <p:cNvSpPr/>
          <p:nvPr/>
        </p:nvSpPr>
        <p:spPr>
          <a:xfrm>
            <a:off x="9921240" y="329184"/>
            <a:ext cx="1828800" cy="475488"/>
          </a:xfrm>
          <a:prstGeom prst="rect">
            <a:avLst/>
          </a:prstGeom>
          <a:noFill/>
          <a:ln/>
        </p:spPr>
        <p:txBody>
          <a:bodyPr wrap="square"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Figure 3</a:t>
            </a:r>
            <a:endParaRPr lang="en-US" sz="1400" dirty="0"/>
          </a:p>
        </p:txBody>
      </p:sp>
      <p:sp>
        <p:nvSpPr>
          <p:cNvPr id="6" name="Shape 4"/>
          <p:cNvSpPr/>
          <p:nvPr/>
        </p:nvSpPr>
        <p:spPr>
          <a:xfrm>
            <a:off x="172917" y="1441539"/>
            <a:ext cx="8392629" cy="4665233"/>
          </a:xfrm>
          <a:prstGeom prst="roundRect">
            <a:avLst>
              <a:gd name="adj" fmla="val 1749"/>
            </a:avLst>
          </a:prstGeom>
          <a:solidFill>
            <a:srgbClr val="FFFFFF"/>
          </a:solidFill>
          <a:ln w="12700">
            <a:solidFill>
              <a:srgbClr val="BFE0EA"/>
            </a:solidFill>
            <a:prstDash val="solid"/>
          </a:ln>
          <a:effectLst>
            <a:outerShdw blurRad="101600" dist="38100" dir="5400000" algn="bl" rotWithShape="0">
              <a:srgbClr val="0B4F6C">
                <a:alpha val="18000"/>
              </a:srgbClr>
            </a:outerShdw>
          </a:effectLst>
        </p:spPr>
      </p:sp>
      <p:pic>
        <p:nvPicPr>
          <p:cNvPr id="7" name="Image 0" descr="f4_etats.png"/>
          <p:cNvPicPr>
            <a:picLocks noChangeAspect="1"/>
          </p:cNvPicPr>
          <p:nvPr/>
        </p:nvPicPr>
        <p:blipFill>
          <a:blip r:embed="rId3"/>
          <a:stretch>
            <a:fillRect/>
          </a:stretch>
        </p:blipFill>
        <p:spPr>
          <a:xfrm>
            <a:off x="226707" y="1569555"/>
            <a:ext cx="8264614" cy="4284397"/>
          </a:xfrm>
          <a:prstGeom prst="rect">
            <a:avLst/>
          </a:prstGeom>
        </p:spPr>
      </p:pic>
      <p:sp>
        <p:nvSpPr>
          <p:cNvPr id="11" name="Text 8"/>
          <p:cNvSpPr/>
          <p:nvPr/>
        </p:nvSpPr>
        <p:spPr>
          <a:xfrm>
            <a:off x="116542" y="6636395"/>
            <a:ext cx="7772400" cy="274320"/>
          </a:xfrm>
          <a:prstGeom prst="rect">
            <a:avLst/>
          </a:prstGeom>
          <a:noFill/>
          <a:ln/>
        </p:spPr>
        <p:txBody>
          <a:bodyPr wrap="square" rtlCol="0" anchor="ctr"/>
          <a:lstStyle/>
          <a:p>
            <a:pPr marL="0" indent="0" algn="l">
              <a:buNone/>
            </a:pPr>
            <a:r>
              <a:rPr lang="en-US" sz="1000" dirty="0">
                <a:solidFill>
                  <a:srgbClr val="5C7480"/>
                </a:solidFill>
                <a:latin typeface="Times New Roman" pitchFamily="34" charset="0"/>
                <a:ea typeface="Times New Roman" pitchFamily="34" charset="-122"/>
                <a:cs typeface="Times New Roman" pitchFamily="34" charset="-120"/>
              </a:rPr>
              <a:t>SIGMAE — Cahier de spécification technique · Modélisation UML</a:t>
            </a:r>
            <a:endParaRPr lang="en-US" sz="1000" dirty="0"/>
          </a:p>
        </p:txBody>
      </p:sp>
      <p:sp>
        <p:nvSpPr>
          <p:cNvPr id="12" name="Text 9"/>
          <p:cNvSpPr/>
          <p:nvPr/>
        </p:nvSpPr>
        <p:spPr>
          <a:xfrm>
            <a:off x="10241280" y="6528816"/>
            <a:ext cx="1490472" cy="274320"/>
          </a:xfrm>
          <a:prstGeom prst="rect">
            <a:avLst/>
          </a:prstGeom>
          <a:noFill/>
          <a:ln/>
        </p:spPr>
        <p:txBody>
          <a:bodyPr wrap="square" rtlCol="0" anchor="ctr"/>
          <a:lstStyle/>
          <a:p>
            <a:pPr marL="0" indent="0" algn="r">
              <a:buNone/>
            </a:pPr>
            <a:r>
              <a:rPr lang="en-US" sz="1000" dirty="0">
                <a:solidFill>
                  <a:srgbClr val="5C7480"/>
                </a:solidFill>
                <a:latin typeface="Times New Roman" pitchFamily="34" charset="0"/>
                <a:cs typeface="Times New Roman" pitchFamily="34" charset="-120"/>
              </a:rPr>
              <a:t>8</a:t>
            </a:r>
            <a:endParaRPr lang="en-US" sz="1000" dirty="0"/>
          </a:p>
        </p:txBody>
      </p:sp>
      <p:sp>
        <p:nvSpPr>
          <p:cNvPr id="13" name="Shape 5">
            <a:extLst>
              <a:ext uri="{FF2B5EF4-FFF2-40B4-BE49-F238E27FC236}">
                <a16:creationId xmlns:a16="http://schemas.microsoft.com/office/drawing/2014/main" id="{FD8C13A6-5ADA-47C9-98D1-1866A4DE5AD6}"/>
              </a:ext>
            </a:extLst>
          </p:cNvPr>
          <p:cNvSpPr/>
          <p:nvPr/>
        </p:nvSpPr>
        <p:spPr>
          <a:xfrm>
            <a:off x="8735748" y="1441539"/>
            <a:ext cx="346748" cy="329184"/>
          </a:xfrm>
          <a:prstGeom prst="ellipse">
            <a:avLst/>
          </a:prstGeom>
          <a:solidFill>
            <a:srgbClr val="D98E32"/>
          </a:solidFill>
          <a:ln/>
        </p:spPr>
      </p:sp>
      <p:sp>
        <p:nvSpPr>
          <p:cNvPr id="14" name="Text 6">
            <a:extLst>
              <a:ext uri="{FF2B5EF4-FFF2-40B4-BE49-F238E27FC236}">
                <a16:creationId xmlns:a16="http://schemas.microsoft.com/office/drawing/2014/main" id="{C95D086B-5AC0-4FE7-A9F9-A06159C2743E}"/>
              </a:ext>
            </a:extLst>
          </p:cNvPr>
          <p:cNvSpPr/>
          <p:nvPr/>
        </p:nvSpPr>
        <p:spPr>
          <a:xfrm>
            <a:off x="9205684" y="1441539"/>
            <a:ext cx="2386763" cy="329184"/>
          </a:xfrm>
          <a:prstGeom prst="rect">
            <a:avLst/>
          </a:prstGeom>
          <a:noFill/>
          <a:ln/>
        </p:spPr>
        <p:txBody>
          <a:bodyPr wrap="square" rtlCol="0" anchor="ctr"/>
          <a:lstStyle/>
          <a:p>
            <a:pPr marL="0" indent="0">
              <a:buNone/>
            </a:pPr>
            <a:r>
              <a:rPr lang="en-US" sz="1600" b="1" dirty="0">
                <a:solidFill>
                  <a:srgbClr val="0B4F6C"/>
                </a:solidFill>
                <a:latin typeface="Times New Roman" pitchFamily="34" charset="0"/>
                <a:ea typeface="Times New Roman" pitchFamily="34" charset="-122"/>
                <a:cs typeface="Times New Roman" pitchFamily="34" charset="-120"/>
              </a:rPr>
              <a:t>Lecture du diagramme</a:t>
            </a:r>
            <a:endParaRPr lang="en-US" sz="1600" dirty="0"/>
          </a:p>
        </p:txBody>
      </p:sp>
      <p:sp>
        <p:nvSpPr>
          <p:cNvPr id="15" name="Text 7">
            <a:extLst>
              <a:ext uri="{FF2B5EF4-FFF2-40B4-BE49-F238E27FC236}">
                <a16:creationId xmlns:a16="http://schemas.microsoft.com/office/drawing/2014/main" id="{525CD327-4615-472C-B41B-60258269F816}"/>
              </a:ext>
            </a:extLst>
          </p:cNvPr>
          <p:cNvSpPr/>
          <p:nvPr/>
        </p:nvSpPr>
        <p:spPr>
          <a:xfrm>
            <a:off x="8735748" y="1915544"/>
            <a:ext cx="3283336" cy="4191227"/>
          </a:xfrm>
          <a:prstGeom prst="rect">
            <a:avLst/>
          </a:prstGeom>
          <a:noFill/>
          <a:ln/>
        </p:spPr>
        <p:txBody>
          <a:bodyPr wrap="square" lIns="0" tIns="0" rIns="0" bIns="0" rtlCol="0" anchor="t"/>
          <a:lstStyle/>
          <a:p>
            <a:pPr marL="177800" indent="-177800" algn="just">
              <a:spcAft>
                <a:spcPts val="800"/>
              </a:spcAft>
              <a:buSzPct val="100000"/>
              <a:buChar char="•"/>
            </a:pPr>
            <a:r>
              <a:rPr lang="fr-FR" sz="1600" dirty="0">
                <a:solidFill>
                  <a:srgbClr val="26333D"/>
                </a:solidFill>
                <a:latin typeface="Times New Roman" pitchFamily="34" charset="0"/>
                <a:ea typeface="Times New Roman" pitchFamily="34" charset="-122"/>
                <a:cs typeface="Times New Roman" pitchFamily="34" charset="-120"/>
              </a:rPr>
              <a:t>Dix états codifiés par couleur : préparation (bleu), évaluation (orange), échec (rouge), traitement des recours (violet), exécution et réception (vert).</a:t>
            </a:r>
            <a:endParaRPr lang="fr-FR" sz="1600" dirty="0"/>
          </a:p>
          <a:p>
            <a:pPr marL="177800" indent="-177800" algn="just">
              <a:spcAft>
                <a:spcPts val="800"/>
              </a:spcAft>
              <a:buSzPct val="100000"/>
              <a:buChar char="•"/>
            </a:pPr>
            <a:r>
              <a:rPr lang="fr-FR" sz="1600" dirty="0">
                <a:solidFill>
                  <a:srgbClr val="26333D"/>
                </a:solidFill>
                <a:latin typeface="Times New Roman" pitchFamily="34" charset="0"/>
                <a:ea typeface="Times New Roman" pitchFamily="34" charset="-122"/>
                <a:cs typeface="Times New Roman" pitchFamily="34" charset="-120"/>
              </a:rPr>
              <a:t>Le nœud initial correspond à la création du marché ; le nœud final marque sa clôture après paiement. Les transitions en rouge modélisent les retours en arrière — </a:t>
            </a:r>
            <a:r>
              <a:rPr lang="fr-FR" sz="1600" dirty="0" err="1">
                <a:solidFill>
                  <a:srgbClr val="26333D"/>
                </a:solidFill>
                <a:latin typeface="Times New Roman" pitchFamily="34" charset="0"/>
                <a:ea typeface="Times New Roman" pitchFamily="34" charset="-122"/>
                <a:cs typeface="Times New Roman" pitchFamily="34" charset="-120"/>
              </a:rPr>
              <a:t>relancerAppel</a:t>
            </a:r>
            <a:r>
              <a:rPr lang="fr-FR" sz="1600" dirty="0">
                <a:solidFill>
                  <a:srgbClr val="26333D"/>
                </a:solidFill>
                <a:latin typeface="Times New Roman" pitchFamily="34" charset="0"/>
                <a:ea typeface="Times New Roman" pitchFamily="34" charset="-122"/>
                <a:cs typeface="Times New Roman" pitchFamily="34" charset="-120"/>
              </a:rPr>
              <a:t>() après un recours fondé ou un marché infructueux — pilotés par des conditions de garde explicites.</a:t>
            </a:r>
            <a:endParaRPr lang="fr-FR"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44780"/>
            <a:ext cx="9144000" cy="292608"/>
          </a:xfrm>
          <a:prstGeom prst="rect">
            <a:avLst/>
          </a:prstGeom>
          <a:noFill/>
          <a:ln/>
        </p:spPr>
        <p:txBody>
          <a:bodyPr wrap="square" rtlCol="0" anchor="ctr"/>
          <a:lstStyle/>
          <a:p>
            <a:pPr marL="0" indent="0">
              <a:buNone/>
            </a:pPr>
            <a:r>
              <a:rPr lang="en-US" b="1" kern="0" spc="200" dirty="0">
                <a:solidFill>
                  <a:srgbClr val="D98E32"/>
                </a:solidFill>
                <a:latin typeface="Times New Roman" pitchFamily="34" charset="0"/>
                <a:ea typeface="Times New Roman" pitchFamily="34" charset="-122"/>
                <a:cs typeface="Times New Roman" pitchFamily="34" charset="-120"/>
              </a:rPr>
              <a:t>VUE DYNAMIQUE</a:t>
            </a:r>
            <a:endParaRPr lang="en-US" dirty="0"/>
          </a:p>
        </p:txBody>
      </p:sp>
      <p:sp>
        <p:nvSpPr>
          <p:cNvPr id="3" name="Text 1"/>
          <p:cNvSpPr/>
          <p:nvPr/>
        </p:nvSpPr>
        <p:spPr>
          <a:xfrm>
            <a:off x="530352" y="376428"/>
            <a:ext cx="10424160" cy="603504"/>
          </a:xfrm>
          <a:prstGeom prst="rect">
            <a:avLst/>
          </a:prstGeom>
          <a:noFill/>
          <a:ln/>
        </p:spPr>
        <p:txBody>
          <a:bodyPr wrap="square" rtlCol="0" anchor="ctr"/>
          <a:lstStyle/>
          <a:p>
            <a:pPr marL="0" indent="0">
              <a:buNone/>
            </a:pPr>
            <a:r>
              <a:rPr lang="en-US" sz="3200" b="1" dirty="0">
                <a:solidFill>
                  <a:srgbClr val="0B4F6C"/>
                </a:solidFill>
                <a:latin typeface="Times New Roman" pitchFamily="34" charset="0"/>
                <a:ea typeface="Times New Roman" pitchFamily="34" charset="-122"/>
                <a:cs typeface="Times New Roman" pitchFamily="34" charset="-120"/>
              </a:rPr>
              <a:t>Diagramme d'activité — Phase 1</a:t>
            </a:r>
            <a:endParaRPr lang="en-US" sz="3200" dirty="0"/>
          </a:p>
        </p:txBody>
      </p:sp>
      <p:sp>
        <p:nvSpPr>
          <p:cNvPr id="4" name="Shape 2"/>
          <p:cNvSpPr/>
          <p:nvPr/>
        </p:nvSpPr>
        <p:spPr>
          <a:xfrm>
            <a:off x="9921240" y="329184"/>
            <a:ext cx="1828800" cy="475488"/>
          </a:xfrm>
          <a:prstGeom prst="hexagon">
            <a:avLst/>
          </a:prstGeom>
          <a:solidFill>
            <a:srgbClr val="0B4F6C"/>
          </a:solidFill>
          <a:ln/>
        </p:spPr>
      </p:sp>
      <p:sp>
        <p:nvSpPr>
          <p:cNvPr id="5" name="Text 3"/>
          <p:cNvSpPr/>
          <p:nvPr/>
        </p:nvSpPr>
        <p:spPr>
          <a:xfrm>
            <a:off x="9921240" y="329184"/>
            <a:ext cx="1828800" cy="475488"/>
          </a:xfrm>
          <a:prstGeom prst="rect">
            <a:avLst/>
          </a:prstGeom>
          <a:noFill/>
          <a:ln/>
        </p:spPr>
        <p:txBody>
          <a:bodyPr wrap="square"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Figure 4</a:t>
            </a:r>
            <a:endParaRPr lang="en-US" sz="1400" dirty="0"/>
          </a:p>
        </p:txBody>
      </p:sp>
      <p:sp>
        <p:nvSpPr>
          <p:cNvPr id="6" name="Shape 4"/>
          <p:cNvSpPr/>
          <p:nvPr/>
        </p:nvSpPr>
        <p:spPr>
          <a:xfrm>
            <a:off x="530352" y="905435"/>
            <a:ext cx="5997423" cy="5686916"/>
          </a:xfrm>
          <a:prstGeom prst="roundRect">
            <a:avLst>
              <a:gd name="adj" fmla="val 1077"/>
            </a:avLst>
          </a:prstGeom>
          <a:solidFill>
            <a:srgbClr val="FFFFFF"/>
          </a:solidFill>
          <a:ln w="12700">
            <a:solidFill>
              <a:srgbClr val="BFE0EA"/>
            </a:solidFill>
            <a:prstDash val="solid"/>
          </a:ln>
          <a:effectLst>
            <a:outerShdw blurRad="101600" dist="38100" dir="5400000" algn="bl" rotWithShape="0">
              <a:srgbClr val="0B4F6C">
                <a:alpha val="18000"/>
              </a:srgbClr>
            </a:outerShdw>
          </a:effectLst>
        </p:spPr>
      </p:sp>
      <p:pic>
        <p:nvPicPr>
          <p:cNvPr id="7" name="Image 0" descr="f5_activite_phase1.png"/>
          <p:cNvPicPr>
            <a:picLocks noChangeAspect="1"/>
          </p:cNvPicPr>
          <p:nvPr/>
        </p:nvPicPr>
        <p:blipFill>
          <a:blip r:embed="rId3"/>
          <a:stretch>
            <a:fillRect/>
          </a:stretch>
        </p:blipFill>
        <p:spPr>
          <a:xfrm>
            <a:off x="689436" y="905435"/>
            <a:ext cx="5666540" cy="5686916"/>
          </a:xfrm>
          <a:prstGeom prst="rect">
            <a:avLst/>
          </a:prstGeom>
        </p:spPr>
      </p:pic>
      <p:sp>
        <p:nvSpPr>
          <p:cNvPr id="8" name="Shape 5"/>
          <p:cNvSpPr/>
          <p:nvPr/>
        </p:nvSpPr>
        <p:spPr>
          <a:xfrm>
            <a:off x="6992472" y="1295400"/>
            <a:ext cx="258394" cy="256032"/>
          </a:xfrm>
          <a:prstGeom prst="ellipse">
            <a:avLst/>
          </a:prstGeom>
          <a:solidFill>
            <a:srgbClr val="D98E32"/>
          </a:solidFill>
          <a:ln/>
        </p:spPr>
      </p:sp>
      <p:sp>
        <p:nvSpPr>
          <p:cNvPr id="9" name="Text 6"/>
          <p:cNvSpPr/>
          <p:nvPr/>
        </p:nvSpPr>
        <p:spPr>
          <a:xfrm>
            <a:off x="7408080" y="1258824"/>
            <a:ext cx="3440061" cy="329184"/>
          </a:xfrm>
          <a:prstGeom prst="rect">
            <a:avLst/>
          </a:prstGeom>
          <a:noFill/>
          <a:ln/>
        </p:spPr>
        <p:txBody>
          <a:bodyPr wrap="square" rtlCol="0" anchor="ctr"/>
          <a:lstStyle/>
          <a:p>
            <a:pPr marL="0" indent="0">
              <a:buNone/>
            </a:pPr>
            <a:r>
              <a:rPr lang="en-US" sz="1600" b="1" dirty="0">
                <a:solidFill>
                  <a:srgbClr val="0B4F6C"/>
                </a:solidFill>
                <a:latin typeface="Times New Roman" pitchFamily="34" charset="0"/>
                <a:ea typeface="Times New Roman" pitchFamily="34" charset="-122"/>
                <a:cs typeface="Times New Roman" pitchFamily="34" charset="-120"/>
              </a:rPr>
              <a:t>Recueil des besoins &amp; appel d'offres</a:t>
            </a:r>
            <a:endParaRPr lang="en-US" sz="1600" dirty="0"/>
          </a:p>
        </p:txBody>
      </p:sp>
      <p:sp>
        <p:nvSpPr>
          <p:cNvPr id="10" name="Text 7"/>
          <p:cNvSpPr/>
          <p:nvPr/>
        </p:nvSpPr>
        <p:spPr>
          <a:xfrm>
            <a:off x="6992472" y="1938528"/>
            <a:ext cx="4666127" cy="4370832"/>
          </a:xfrm>
          <a:prstGeom prst="rect">
            <a:avLst/>
          </a:prstGeom>
          <a:noFill/>
          <a:ln/>
        </p:spPr>
        <p:txBody>
          <a:bodyPr wrap="square" lIns="0" tIns="0" rIns="0" bIns="0" rtlCol="0" anchor="t"/>
          <a:lstStyle/>
          <a:p>
            <a:pPr marL="177800" indent="-177800" algn="just">
              <a:spcAft>
                <a:spcPts val="1100"/>
              </a:spcAft>
              <a:buSzPct val="100000"/>
              <a:buChar char="•"/>
            </a:pPr>
            <a:r>
              <a:rPr lang="en-US" sz="1600" dirty="0">
                <a:solidFill>
                  <a:srgbClr val="26333D"/>
                </a:solidFill>
                <a:latin typeface="Times New Roman" pitchFamily="34" charset="0"/>
                <a:ea typeface="Times New Roman" pitchFamily="34" charset="-122"/>
                <a:cs typeface="Times New Roman" pitchFamily="34" charset="-120"/>
              </a:rPr>
              <a:t>Cinq couloirs (swimlanes) : Enseignant, Chef de département, CSA, Cellule de passation des marchés, Fournisseur.</a:t>
            </a:r>
            <a:endParaRPr lang="en-US" sz="1600" dirty="0"/>
          </a:p>
          <a:p>
            <a:pPr marL="177800" indent="-177800" algn="just">
              <a:spcAft>
                <a:spcPts val="1100"/>
              </a:spcAft>
              <a:buSzPct val="100000"/>
              <a:buChar char="•"/>
            </a:pPr>
            <a:r>
              <a:rPr lang="en-US" sz="1600" dirty="0">
                <a:solidFill>
                  <a:srgbClr val="26333D"/>
                </a:solidFill>
                <a:latin typeface="Times New Roman" pitchFamily="34" charset="0"/>
                <a:ea typeface="Times New Roman" pitchFamily="34" charset="-122"/>
                <a:cs typeface="Times New Roman" pitchFamily="34" charset="-120"/>
              </a:rPr>
              <a:t>L'enseignant exprime ses besoins ; le chef de département les collecte ; le CSA consolide et transmet à la CPM.</a:t>
            </a:r>
            <a:endParaRPr lang="en-US" sz="1600" dirty="0"/>
          </a:p>
          <a:p>
            <a:pPr marL="177800" indent="-177800" algn="just">
              <a:spcAft>
                <a:spcPts val="1100"/>
              </a:spcAft>
              <a:buSzPct val="100000"/>
              <a:buChar char="•"/>
            </a:pPr>
            <a:r>
              <a:rPr lang="en-US" sz="1600" dirty="0">
                <a:solidFill>
                  <a:srgbClr val="26333D"/>
                </a:solidFill>
                <a:latin typeface="Times New Roman" pitchFamily="34" charset="0"/>
                <a:ea typeface="Times New Roman" pitchFamily="34" charset="-122"/>
                <a:cs typeface="Times New Roman" pitchFamily="34" charset="-120"/>
              </a:rPr>
              <a:t>Un losange de décision oriente vers l'une des trois procédures DRP : Simple (contact direct d'un fournisseur agréé), Restreint (invitation de 5 fournisseurs avec remise du CDC) ou Ouvert (publication dans un journal officiel).</a:t>
            </a:r>
            <a:endParaRPr lang="en-US" sz="1600" dirty="0"/>
          </a:p>
          <a:p>
            <a:pPr marL="177800" indent="-177800" algn="just">
              <a:spcAft>
                <a:spcPts val="1100"/>
              </a:spcAft>
              <a:buSzPct val="100000"/>
              <a:buChar char="•"/>
            </a:pPr>
            <a:r>
              <a:rPr lang="en-US" sz="1600" dirty="0">
                <a:solidFill>
                  <a:srgbClr val="26333D"/>
                </a:solidFill>
                <a:latin typeface="Times New Roman" pitchFamily="34" charset="0"/>
                <a:ea typeface="Times New Roman" pitchFamily="34" charset="-122"/>
                <a:cs typeface="Times New Roman" pitchFamily="34" charset="-120"/>
              </a:rPr>
              <a:t>Une barre de fork déclenche en parallèle le dépouillement et la préparation du dossier.</a:t>
            </a:r>
            <a:endParaRPr lang="en-US" sz="1600" dirty="0"/>
          </a:p>
        </p:txBody>
      </p:sp>
      <p:sp>
        <p:nvSpPr>
          <p:cNvPr id="11" name="Text 8"/>
          <p:cNvSpPr/>
          <p:nvPr/>
        </p:nvSpPr>
        <p:spPr>
          <a:xfrm>
            <a:off x="457200" y="6528816"/>
            <a:ext cx="7772400" cy="274320"/>
          </a:xfrm>
          <a:prstGeom prst="rect">
            <a:avLst/>
          </a:prstGeom>
          <a:noFill/>
          <a:ln/>
        </p:spPr>
        <p:txBody>
          <a:bodyPr wrap="square" rtlCol="0" anchor="ctr"/>
          <a:lstStyle/>
          <a:p>
            <a:pPr marL="0" indent="0" algn="l">
              <a:buNone/>
            </a:pPr>
            <a:r>
              <a:rPr lang="en-US" sz="1000" dirty="0">
                <a:solidFill>
                  <a:srgbClr val="5C7480"/>
                </a:solidFill>
                <a:latin typeface="Times New Roman" pitchFamily="34" charset="0"/>
                <a:ea typeface="Times New Roman" pitchFamily="34" charset="-122"/>
                <a:cs typeface="Times New Roman" pitchFamily="34" charset="-120"/>
              </a:rPr>
              <a:t>SIGMAE — Cahier de spécification technique · Modélisation UML</a:t>
            </a:r>
            <a:endParaRPr lang="en-US" sz="1000" dirty="0"/>
          </a:p>
        </p:txBody>
      </p:sp>
      <p:sp>
        <p:nvSpPr>
          <p:cNvPr id="12" name="Text 9"/>
          <p:cNvSpPr/>
          <p:nvPr/>
        </p:nvSpPr>
        <p:spPr>
          <a:xfrm>
            <a:off x="10241280" y="6528816"/>
            <a:ext cx="1490472" cy="274320"/>
          </a:xfrm>
          <a:prstGeom prst="rect">
            <a:avLst/>
          </a:prstGeom>
          <a:noFill/>
          <a:ln/>
        </p:spPr>
        <p:txBody>
          <a:bodyPr wrap="square" rtlCol="0" anchor="ctr"/>
          <a:lstStyle/>
          <a:p>
            <a:pPr marL="0" indent="0" algn="r">
              <a:buNone/>
            </a:pPr>
            <a:r>
              <a:rPr lang="en-US" sz="1000" dirty="0">
                <a:solidFill>
                  <a:srgbClr val="5C7480"/>
                </a:solidFill>
                <a:latin typeface="Times New Roman" pitchFamily="34" charset="0"/>
                <a:cs typeface="Times New Roman"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144000" cy="292608"/>
          </a:xfrm>
          <a:prstGeom prst="rect">
            <a:avLst/>
          </a:prstGeom>
          <a:noFill/>
          <a:ln/>
        </p:spPr>
        <p:txBody>
          <a:bodyPr wrap="square" rtlCol="0" anchor="ctr"/>
          <a:lstStyle/>
          <a:p>
            <a:pPr marL="0" indent="0">
              <a:buNone/>
            </a:pPr>
            <a:r>
              <a:rPr lang="en-US" b="1" kern="0" spc="200" dirty="0">
                <a:solidFill>
                  <a:srgbClr val="D98E32"/>
                </a:solidFill>
                <a:latin typeface="Times New Roman" pitchFamily="34" charset="0"/>
                <a:ea typeface="Times New Roman" pitchFamily="34" charset="-122"/>
                <a:cs typeface="Times New Roman" pitchFamily="34" charset="-120"/>
              </a:rPr>
              <a:t>VUE DYNAMIQUE</a:t>
            </a:r>
            <a:endParaRPr lang="en-US" dirty="0"/>
          </a:p>
        </p:txBody>
      </p:sp>
      <p:sp>
        <p:nvSpPr>
          <p:cNvPr id="3" name="Text 1"/>
          <p:cNvSpPr/>
          <p:nvPr/>
        </p:nvSpPr>
        <p:spPr>
          <a:xfrm>
            <a:off x="530352" y="530352"/>
            <a:ext cx="10424160" cy="603504"/>
          </a:xfrm>
          <a:prstGeom prst="rect">
            <a:avLst/>
          </a:prstGeom>
          <a:noFill/>
          <a:ln/>
        </p:spPr>
        <p:txBody>
          <a:bodyPr wrap="square" rtlCol="0" anchor="ctr"/>
          <a:lstStyle/>
          <a:p>
            <a:pPr marL="0" indent="0">
              <a:buNone/>
            </a:pPr>
            <a:r>
              <a:rPr lang="en-US" sz="3200" b="1" dirty="0">
                <a:solidFill>
                  <a:srgbClr val="0B4F6C"/>
                </a:solidFill>
                <a:latin typeface="Times New Roman" pitchFamily="34" charset="0"/>
                <a:ea typeface="Times New Roman" pitchFamily="34" charset="-122"/>
                <a:cs typeface="Times New Roman" pitchFamily="34" charset="-120"/>
              </a:rPr>
              <a:t>Diagramme d'activité — Phase 2</a:t>
            </a:r>
            <a:endParaRPr lang="en-US" sz="3200" dirty="0"/>
          </a:p>
        </p:txBody>
      </p:sp>
      <p:sp>
        <p:nvSpPr>
          <p:cNvPr id="4" name="Shape 2"/>
          <p:cNvSpPr/>
          <p:nvPr/>
        </p:nvSpPr>
        <p:spPr>
          <a:xfrm>
            <a:off x="9921240" y="329184"/>
            <a:ext cx="1828800" cy="475488"/>
          </a:xfrm>
          <a:prstGeom prst="hexagon">
            <a:avLst/>
          </a:prstGeom>
          <a:solidFill>
            <a:srgbClr val="0B4F6C"/>
          </a:solidFill>
          <a:ln/>
        </p:spPr>
      </p:sp>
      <p:sp>
        <p:nvSpPr>
          <p:cNvPr id="5" name="Text 3"/>
          <p:cNvSpPr/>
          <p:nvPr/>
        </p:nvSpPr>
        <p:spPr>
          <a:xfrm>
            <a:off x="9921240" y="329184"/>
            <a:ext cx="1828800" cy="475488"/>
          </a:xfrm>
          <a:prstGeom prst="rect">
            <a:avLst/>
          </a:prstGeom>
          <a:noFill/>
          <a:ln/>
        </p:spPr>
        <p:txBody>
          <a:bodyPr wrap="square"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Figure 5</a:t>
            </a:r>
            <a:endParaRPr lang="en-US" sz="1400" dirty="0"/>
          </a:p>
        </p:txBody>
      </p:sp>
      <p:sp>
        <p:nvSpPr>
          <p:cNvPr id="6" name="Shape 4"/>
          <p:cNvSpPr/>
          <p:nvPr/>
        </p:nvSpPr>
        <p:spPr>
          <a:xfrm>
            <a:off x="627529" y="1152144"/>
            <a:ext cx="5227680" cy="5330952"/>
          </a:xfrm>
          <a:prstGeom prst="roundRect">
            <a:avLst>
              <a:gd name="adj" fmla="val 1340"/>
            </a:avLst>
          </a:prstGeom>
          <a:solidFill>
            <a:srgbClr val="FFFFFF"/>
          </a:solidFill>
          <a:ln w="12700">
            <a:solidFill>
              <a:srgbClr val="BFE0EA"/>
            </a:solidFill>
            <a:prstDash val="solid"/>
          </a:ln>
          <a:effectLst>
            <a:outerShdw blurRad="101600" dist="38100" dir="5400000" algn="bl" rotWithShape="0">
              <a:srgbClr val="0B4F6C">
                <a:alpha val="18000"/>
              </a:srgbClr>
            </a:outerShdw>
          </a:effectLst>
        </p:spPr>
      </p:sp>
      <p:pic>
        <p:nvPicPr>
          <p:cNvPr id="7" name="Image 0" descr="f6_activite_phase2.png"/>
          <p:cNvPicPr>
            <a:picLocks noChangeAspect="1"/>
          </p:cNvPicPr>
          <p:nvPr/>
        </p:nvPicPr>
        <p:blipFill>
          <a:blip r:embed="rId3"/>
          <a:stretch>
            <a:fillRect/>
          </a:stretch>
        </p:blipFill>
        <p:spPr>
          <a:xfrm>
            <a:off x="806824" y="1179576"/>
            <a:ext cx="4876800" cy="5303520"/>
          </a:xfrm>
          <a:prstGeom prst="rect">
            <a:avLst/>
          </a:prstGeom>
        </p:spPr>
      </p:pic>
      <p:sp>
        <p:nvSpPr>
          <p:cNvPr id="8" name="Shape 5"/>
          <p:cNvSpPr/>
          <p:nvPr/>
        </p:nvSpPr>
        <p:spPr>
          <a:xfrm>
            <a:off x="6080760" y="1444752"/>
            <a:ext cx="146304" cy="146304"/>
          </a:xfrm>
          <a:prstGeom prst="ellipse">
            <a:avLst/>
          </a:prstGeom>
          <a:solidFill>
            <a:srgbClr val="D98E32"/>
          </a:solidFill>
          <a:ln/>
        </p:spPr>
      </p:sp>
      <p:sp>
        <p:nvSpPr>
          <p:cNvPr id="9" name="Text 6"/>
          <p:cNvSpPr/>
          <p:nvPr/>
        </p:nvSpPr>
        <p:spPr>
          <a:xfrm>
            <a:off x="6336792" y="1371600"/>
            <a:ext cx="5321808" cy="329184"/>
          </a:xfrm>
          <a:prstGeom prst="rect">
            <a:avLst/>
          </a:prstGeom>
          <a:noFill/>
          <a:ln/>
        </p:spPr>
        <p:txBody>
          <a:bodyPr wrap="square" rtlCol="0" anchor="ctr"/>
          <a:lstStyle/>
          <a:p>
            <a:pPr marL="0" indent="0">
              <a:buNone/>
            </a:pPr>
            <a:r>
              <a:rPr lang="en-US" sz="1600" b="1" dirty="0">
                <a:solidFill>
                  <a:srgbClr val="0B4F6C"/>
                </a:solidFill>
                <a:latin typeface="Times New Roman" pitchFamily="34" charset="0"/>
                <a:ea typeface="Times New Roman" pitchFamily="34" charset="-122"/>
                <a:cs typeface="Times New Roman" pitchFamily="34" charset="-120"/>
              </a:rPr>
              <a:t>Dépouillement, attribution, contrat, exécution</a:t>
            </a:r>
            <a:endParaRPr lang="en-US" sz="1600" dirty="0"/>
          </a:p>
        </p:txBody>
      </p:sp>
      <p:sp>
        <p:nvSpPr>
          <p:cNvPr id="10" name="Text 7"/>
          <p:cNvSpPr/>
          <p:nvPr/>
        </p:nvSpPr>
        <p:spPr>
          <a:xfrm>
            <a:off x="6080760" y="1810512"/>
            <a:ext cx="5577840" cy="4526280"/>
          </a:xfrm>
          <a:prstGeom prst="rect">
            <a:avLst/>
          </a:prstGeom>
          <a:noFill/>
          <a:ln/>
        </p:spPr>
        <p:txBody>
          <a:bodyPr wrap="square" lIns="0" tIns="0" rIns="0" bIns="0" rtlCol="0" anchor="t"/>
          <a:lstStyle/>
          <a:p>
            <a:pPr marL="177800" indent="-177800" algn="just">
              <a:spcAft>
                <a:spcPts val="800"/>
              </a:spcAft>
              <a:buSzPct val="100000"/>
              <a:buChar char="•"/>
            </a:pPr>
            <a:r>
              <a:rPr lang="en-US" sz="1600" dirty="0">
                <a:solidFill>
                  <a:srgbClr val="26333D"/>
                </a:solidFill>
                <a:latin typeface="Times New Roman" pitchFamily="34" charset="0"/>
                <a:ea typeface="Times New Roman" pitchFamily="34" charset="-122"/>
                <a:cs typeface="Times New Roman" pitchFamily="34" charset="-120"/>
              </a:rPr>
              <a:t>Couvre le dépouillement, l'attribution, la gestion des recours, la contractualisation et la réception.</a:t>
            </a:r>
            <a:endParaRPr lang="en-US" sz="1600" dirty="0"/>
          </a:p>
          <a:p>
            <a:pPr marL="177800" indent="-177800" algn="just">
              <a:spcAft>
                <a:spcPts val="800"/>
              </a:spcAft>
              <a:buSzPct val="100000"/>
              <a:buChar char="•"/>
            </a:pPr>
            <a:r>
              <a:rPr lang="en-US" sz="1600" dirty="0">
                <a:solidFill>
                  <a:srgbClr val="26333D"/>
                </a:solidFill>
                <a:latin typeface="Times New Roman" pitchFamily="34" charset="0"/>
                <a:ea typeface="Times New Roman" pitchFamily="34" charset="-122"/>
                <a:cs typeface="Times New Roman" pitchFamily="34" charset="-120"/>
              </a:rPr>
              <a:t>La Commission des marchés évalue les offres et propose une attribution provisoire ; un losange oriente vers la relance (recours fondé) ou l'attribution définitive.</a:t>
            </a:r>
            <a:endParaRPr lang="en-US" sz="1600" dirty="0"/>
          </a:p>
          <a:p>
            <a:pPr marL="177800" indent="-177800" algn="just">
              <a:spcAft>
                <a:spcPts val="800"/>
              </a:spcAft>
              <a:buSzPct val="100000"/>
              <a:buChar char="•"/>
            </a:pPr>
            <a:r>
              <a:rPr lang="en-US" sz="1600" dirty="0">
                <a:solidFill>
                  <a:srgbClr val="26333D"/>
                </a:solidFill>
                <a:latin typeface="Times New Roman" pitchFamily="34" charset="0"/>
                <a:ea typeface="Times New Roman" pitchFamily="34" charset="-122"/>
                <a:cs typeface="Times New Roman" pitchFamily="34" charset="-120"/>
              </a:rPr>
              <a:t>Le Directeur signe le contrat ; le Fournisseur exécute et livre la commande.</a:t>
            </a:r>
            <a:endParaRPr lang="en-US" sz="1600" dirty="0"/>
          </a:p>
          <a:p>
            <a:pPr marL="177800" indent="-177800" algn="just">
              <a:spcAft>
                <a:spcPts val="800"/>
              </a:spcAft>
              <a:buSzPct val="100000"/>
              <a:buChar char="•"/>
            </a:pPr>
            <a:r>
              <a:rPr lang="en-US" sz="1600" dirty="0">
                <a:solidFill>
                  <a:srgbClr val="26333D"/>
                </a:solidFill>
                <a:latin typeface="Times New Roman" pitchFamily="34" charset="0"/>
                <a:ea typeface="Times New Roman" pitchFamily="34" charset="-122"/>
                <a:cs typeface="Times New Roman" pitchFamily="34" charset="-120"/>
              </a:rPr>
              <a:t>La Commission de réception vérifie la conformité : en cas de réserves, une boucle de correction est déclenchée ; si conforme, le certificat de bonne exécution est délivré et le paiement ordonnancé.</a:t>
            </a:r>
            <a:endParaRPr lang="en-US" sz="1600" dirty="0"/>
          </a:p>
          <a:p>
            <a:pPr marL="177800" indent="-177800" algn="just">
              <a:spcAft>
                <a:spcPts val="800"/>
              </a:spcAft>
              <a:buSzPct val="100000"/>
              <a:buChar char="•"/>
            </a:pPr>
            <a:r>
              <a:rPr lang="en-US" sz="1600" dirty="0">
                <a:solidFill>
                  <a:srgbClr val="26333D"/>
                </a:solidFill>
                <a:latin typeface="Times New Roman" pitchFamily="34" charset="0"/>
                <a:ea typeface="Times New Roman" pitchFamily="34" charset="-122"/>
                <a:cs typeface="Times New Roman" pitchFamily="34" charset="-120"/>
              </a:rPr>
              <a:t>L'avance est modélisée comme une branche optionnelle depuis la signature du contrat.</a:t>
            </a:r>
            <a:endParaRPr lang="en-US" sz="1600" dirty="0"/>
          </a:p>
        </p:txBody>
      </p:sp>
      <p:sp>
        <p:nvSpPr>
          <p:cNvPr id="11" name="Text 8"/>
          <p:cNvSpPr/>
          <p:nvPr/>
        </p:nvSpPr>
        <p:spPr>
          <a:xfrm>
            <a:off x="457200" y="6528816"/>
            <a:ext cx="7772400" cy="274320"/>
          </a:xfrm>
          <a:prstGeom prst="rect">
            <a:avLst/>
          </a:prstGeom>
          <a:noFill/>
          <a:ln/>
        </p:spPr>
        <p:txBody>
          <a:bodyPr wrap="square" rtlCol="0" anchor="ctr"/>
          <a:lstStyle/>
          <a:p>
            <a:pPr marL="0" indent="0" algn="l">
              <a:buNone/>
            </a:pPr>
            <a:r>
              <a:rPr lang="en-US" sz="1000" dirty="0">
                <a:solidFill>
                  <a:srgbClr val="5C7480"/>
                </a:solidFill>
                <a:latin typeface="Times New Roman" pitchFamily="34" charset="0"/>
                <a:ea typeface="Times New Roman" pitchFamily="34" charset="-122"/>
                <a:cs typeface="Times New Roman" pitchFamily="34" charset="-120"/>
              </a:rPr>
              <a:t>SIGMAE — Cahier de spécification technique · Modélisation UML</a:t>
            </a:r>
            <a:endParaRPr lang="en-US" sz="1000" dirty="0"/>
          </a:p>
        </p:txBody>
      </p:sp>
      <p:sp>
        <p:nvSpPr>
          <p:cNvPr id="12" name="Text 9"/>
          <p:cNvSpPr/>
          <p:nvPr/>
        </p:nvSpPr>
        <p:spPr>
          <a:xfrm>
            <a:off x="10241280" y="6528816"/>
            <a:ext cx="1490472" cy="274320"/>
          </a:xfrm>
          <a:prstGeom prst="rect">
            <a:avLst/>
          </a:prstGeom>
          <a:noFill/>
          <a:ln/>
        </p:spPr>
        <p:txBody>
          <a:bodyPr wrap="square" rtlCol="0" anchor="ctr"/>
          <a:lstStyle/>
          <a:p>
            <a:pPr marL="0" indent="0" algn="r">
              <a:buNone/>
            </a:pPr>
            <a:r>
              <a:rPr lang="en-US" sz="1000" dirty="0">
                <a:solidFill>
                  <a:srgbClr val="5C7480"/>
                </a:solidFill>
                <a:latin typeface="Times New Roman" pitchFamily="34" charset="0"/>
                <a:ea typeface="Times New Roman" pitchFamily="34" charset="-122"/>
                <a:cs typeface="Times New Roman"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144000" cy="292608"/>
          </a:xfrm>
          <a:prstGeom prst="rect">
            <a:avLst/>
          </a:prstGeom>
          <a:noFill/>
          <a:ln/>
        </p:spPr>
        <p:txBody>
          <a:bodyPr wrap="square" rtlCol="0" anchor="ctr"/>
          <a:lstStyle/>
          <a:p>
            <a:pPr marL="0" indent="0">
              <a:buNone/>
            </a:pPr>
            <a:r>
              <a:rPr lang="en-US" b="1" kern="0" spc="200" dirty="0">
                <a:solidFill>
                  <a:srgbClr val="D98E32"/>
                </a:solidFill>
                <a:latin typeface="Times New Roman" pitchFamily="34" charset="0"/>
                <a:ea typeface="Times New Roman" pitchFamily="34" charset="-122"/>
                <a:cs typeface="Times New Roman" pitchFamily="34" charset="-120"/>
              </a:rPr>
              <a:t>VUE DYNAMIQUE</a:t>
            </a:r>
            <a:endParaRPr lang="en-US" dirty="0"/>
          </a:p>
        </p:txBody>
      </p:sp>
      <p:sp>
        <p:nvSpPr>
          <p:cNvPr id="3" name="Text 1"/>
          <p:cNvSpPr/>
          <p:nvPr/>
        </p:nvSpPr>
        <p:spPr>
          <a:xfrm>
            <a:off x="530352" y="476562"/>
            <a:ext cx="10424160" cy="603504"/>
          </a:xfrm>
          <a:prstGeom prst="rect">
            <a:avLst/>
          </a:prstGeom>
          <a:noFill/>
          <a:ln/>
        </p:spPr>
        <p:txBody>
          <a:bodyPr wrap="square" rtlCol="0" anchor="ctr"/>
          <a:lstStyle/>
          <a:p>
            <a:pPr marL="0" indent="0">
              <a:buNone/>
            </a:pPr>
            <a:r>
              <a:rPr lang="en-US" sz="3200" b="1" dirty="0">
                <a:solidFill>
                  <a:srgbClr val="0B4F6C"/>
                </a:solidFill>
                <a:latin typeface="Times New Roman" pitchFamily="34" charset="0"/>
                <a:ea typeface="Times New Roman" pitchFamily="34" charset="-122"/>
                <a:cs typeface="Times New Roman" pitchFamily="34" charset="-120"/>
              </a:rPr>
              <a:t>Séquence — Expression des besoins</a:t>
            </a:r>
            <a:endParaRPr lang="en-US" sz="3200" dirty="0"/>
          </a:p>
        </p:txBody>
      </p:sp>
      <p:sp>
        <p:nvSpPr>
          <p:cNvPr id="4" name="Shape 2"/>
          <p:cNvSpPr/>
          <p:nvPr/>
        </p:nvSpPr>
        <p:spPr>
          <a:xfrm>
            <a:off x="9921240" y="329184"/>
            <a:ext cx="1828800" cy="475488"/>
          </a:xfrm>
          <a:prstGeom prst="hexagon">
            <a:avLst/>
          </a:prstGeom>
          <a:solidFill>
            <a:srgbClr val="0B4F6C"/>
          </a:solidFill>
          <a:ln/>
        </p:spPr>
      </p:sp>
      <p:sp>
        <p:nvSpPr>
          <p:cNvPr id="5" name="Text 3"/>
          <p:cNvSpPr/>
          <p:nvPr/>
        </p:nvSpPr>
        <p:spPr>
          <a:xfrm>
            <a:off x="9921240" y="329184"/>
            <a:ext cx="1828800" cy="475488"/>
          </a:xfrm>
          <a:prstGeom prst="rect">
            <a:avLst/>
          </a:prstGeom>
          <a:noFill/>
          <a:ln/>
        </p:spPr>
        <p:txBody>
          <a:bodyPr wrap="square"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Figure 6</a:t>
            </a:r>
            <a:endParaRPr lang="en-US" sz="1400" dirty="0"/>
          </a:p>
        </p:txBody>
      </p:sp>
      <p:sp>
        <p:nvSpPr>
          <p:cNvPr id="6" name="Shape 4"/>
          <p:cNvSpPr/>
          <p:nvPr/>
        </p:nvSpPr>
        <p:spPr>
          <a:xfrm>
            <a:off x="1342007" y="1106424"/>
            <a:ext cx="8447452" cy="3739896"/>
          </a:xfrm>
          <a:prstGeom prst="roundRect">
            <a:avLst>
              <a:gd name="adj" fmla="val 1917"/>
            </a:avLst>
          </a:prstGeom>
          <a:solidFill>
            <a:srgbClr val="FFFFFF"/>
          </a:solidFill>
          <a:ln w="12700">
            <a:solidFill>
              <a:srgbClr val="BFE0EA"/>
            </a:solidFill>
            <a:prstDash val="solid"/>
          </a:ln>
          <a:effectLst>
            <a:outerShdw blurRad="101600" dist="38100" dir="5400000" algn="bl" rotWithShape="0">
              <a:srgbClr val="0B4F6C">
                <a:alpha val="18000"/>
              </a:srgbClr>
            </a:outerShdw>
          </a:effectLst>
        </p:spPr>
      </p:sp>
      <p:pic>
        <p:nvPicPr>
          <p:cNvPr id="7" name="Image 0" descr="f7_sequence_besoins.png"/>
          <p:cNvPicPr>
            <a:picLocks noChangeAspect="1"/>
          </p:cNvPicPr>
          <p:nvPr/>
        </p:nvPicPr>
        <p:blipFill>
          <a:blip r:embed="rId3"/>
          <a:stretch>
            <a:fillRect/>
          </a:stretch>
        </p:blipFill>
        <p:spPr>
          <a:xfrm>
            <a:off x="1342007" y="1106424"/>
            <a:ext cx="8447452" cy="3739896"/>
          </a:xfrm>
          <a:prstGeom prst="rect">
            <a:avLst/>
          </a:prstGeom>
        </p:spPr>
      </p:pic>
      <p:sp>
        <p:nvSpPr>
          <p:cNvPr id="8" name="Shape 5"/>
          <p:cNvSpPr/>
          <p:nvPr/>
        </p:nvSpPr>
        <p:spPr>
          <a:xfrm>
            <a:off x="548640" y="4884689"/>
            <a:ext cx="146304" cy="146304"/>
          </a:xfrm>
          <a:prstGeom prst="ellipse">
            <a:avLst/>
          </a:prstGeom>
          <a:solidFill>
            <a:srgbClr val="D98E32"/>
          </a:solidFill>
          <a:ln/>
        </p:spPr>
      </p:sp>
      <p:sp>
        <p:nvSpPr>
          <p:cNvPr id="9" name="Text 6"/>
          <p:cNvSpPr/>
          <p:nvPr/>
        </p:nvSpPr>
        <p:spPr>
          <a:xfrm>
            <a:off x="804672" y="4811537"/>
            <a:ext cx="10716768" cy="329184"/>
          </a:xfrm>
          <a:prstGeom prst="rect">
            <a:avLst/>
          </a:prstGeom>
          <a:noFill/>
          <a:ln/>
        </p:spPr>
        <p:txBody>
          <a:bodyPr wrap="square" rtlCol="0" anchor="ctr"/>
          <a:lstStyle/>
          <a:p>
            <a:pPr marL="0" indent="0">
              <a:buNone/>
            </a:pPr>
            <a:r>
              <a:rPr lang="en-US" sz="1600" b="1" dirty="0">
                <a:solidFill>
                  <a:srgbClr val="0B4F6C"/>
                </a:solidFill>
                <a:latin typeface="Times New Roman" pitchFamily="34" charset="0"/>
                <a:ea typeface="Times New Roman" pitchFamily="34" charset="-122"/>
                <a:cs typeface="Times New Roman" pitchFamily="34" charset="-120"/>
              </a:rPr>
              <a:t>Lecture du diagramme</a:t>
            </a:r>
            <a:endParaRPr lang="en-US" sz="1600" dirty="0"/>
          </a:p>
        </p:txBody>
      </p:sp>
      <p:sp>
        <p:nvSpPr>
          <p:cNvPr id="10" name="Text 7"/>
          <p:cNvSpPr/>
          <p:nvPr/>
        </p:nvSpPr>
        <p:spPr>
          <a:xfrm>
            <a:off x="530352" y="5138928"/>
            <a:ext cx="11064240" cy="1499616"/>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rgbClr val="26333D"/>
                </a:solidFill>
                <a:latin typeface="Times New Roman" pitchFamily="34" charset="0"/>
                <a:ea typeface="Times New Roman" pitchFamily="34" charset="-122"/>
                <a:cs typeface="Times New Roman" pitchFamily="34" charset="-120"/>
              </a:rPr>
              <a:t>Dix participants : depuis l'Enseignant jusqu'au MarcheService, en passant par le Controller, le Service et le Repository (architecture en couches classique).</a:t>
            </a:r>
            <a:endParaRPr lang="en-US" sz="1600" dirty="0"/>
          </a:p>
          <a:p>
            <a:pPr marL="177800" indent="-177800">
              <a:spcAft>
                <a:spcPts val="800"/>
              </a:spcAft>
              <a:buSzPct val="100000"/>
              <a:buChar char="•"/>
            </a:pPr>
            <a:r>
              <a:rPr lang="en-US" sz="1600" dirty="0">
                <a:solidFill>
                  <a:srgbClr val="26333D"/>
                </a:solidFill>
                <a:latin typeface="Times New Roman" pitchFamily="34" charset="0"/>
                <a:ea typeface="Times New Roman" pitchFamily="34" charset="-122"/>
                <a:cs typeface="Times New Roman" pitchFamily="34" charset="-120"/>
              </a:rPr>
              <a:t>Les messages HTTP (POST) transitent du Controller (boundary) vers le Service (control) puis le Repository (entity) ; Kafka diffuse ensuite de façon asynchrone les besoins consolidés vers le MarcheService.</a:t>
            </a:r>
            <a:endParaRPr lang="en-US" sz="1600" dirty="0"/>
          </a:p>
          <a:p>
            <a:pPr marL="177800" indent="-177800">
              <a:spcAft>
                <a:spcPts val="800"/>
              </a:spcAft>
              <a:buSzPct val="100000"/>
              <a:buChar char="•"/>
            </a:pPr>
            <a:r>
              <a:rPr lang="en-US" sz="1600" dirty="0">
                <a:solidFill>
                  <a:srgbClr val="26333D"/>
                </a:solidFill>
                <a:latin typeface="Times New Roman" pitchFamily="34" charset="0"/>
                <a:ea typeface="Times New Roman" pitchFamily="34" charset="-122"/>
                <a:cs typeface="Times New Roman" pitchFamily="34" charset="-120"/>
              </a:rPr>
              <a:t>Un fragment alt à trois branches modélise le choix de procédure DRP selon le montant : Simple, Restreint ou Ouvert.</a:t>
            </a:r>
            <a:endParaRPr lang="en-US" sz="1600" dirty="0"/>
          </a:p>
        </p:txBody>
      </p:sp>
      <p:sp>
        <p:nvSpPr>
          <p:cNvPr id="11" name="Text 8"/>
          <p:cNvSpPr/>
          <p:nvPr/>
        </p:nvSpPr>
        <p:spPr>
          <a:xfrm>
            <a:off x="457200" y="6528816"/>
            <a:ext cx="7772400" cy="274320"/>
          </a:xfrm>
          <a:prstGeom prst="rect">
            <a:avLst/>
          </a:prstGeom>
          <a:noFill/>
          <a:ln/>
        </p:spPr>
        <p:txBody>
          <a:bodyPr wrap="square" rtlCol="0" anchor="ctr"/>
          <a:lstStyle/>
          <a:p>
            <a:pPr marL="0" indent="0" algn="l">
              <a:buNone/>
            </a:pPr>
            <a:r>
              <a:rPr lang="en-US" sz="1000" dirty="0">
                <a:solidFill>
                  <a:srgbClr val="5C7480"/>
                </a:solidFill>
                <a:latin typeface="Times New Roman" pitchFamily="34" charset="0"/>
                <a:ea typeface="Times New Roman" pitchFamily="34" charset="-122"/>
                <a:cs typeface="Times New Roman" pitchFamily="34" charset="-120"/>
              </a:rPr>
              <a:t>SIGMAE — Cahier de spécification technique · Modélisation UML</a:t>
            </a:r>
            <a:endParaRPr lang="en-US" sz="1000" dirty="0"/>
          </a:p>
        </p:txBody>
      </p:sp>
      <p:sp>
        <p:nvSpPr>
          <p:cNvPr id="12" name="Text 9"/>
          <p:cNvSpPr/>
          <p:nvPr/>
        </p:nvSpPr>
        <p:spPr>
          <a:xfrm>
            <a:off x="10241280" y="6537780"/>
            <a:ext cx="1490472" cy="274320"/>
          </a:xfrm>
          <a:prstGeom prst="rect">
            <a:avLst/>
          </a:prstGeom>
          <a:noFill/>
          <a:ln/>
        </p:spPr>
        <p:txBody>
          <a:bodyPr wrap="square" rtlCol="0" anchor="ctr"/>
          <a:lstStyle/>
          <a:p>
            <a:pPr marL="0" indent="0" algn="r">
              <a:buNone/>
            </a:pPr>
            <a:r>
              <a:rPr lang="en-US" sz="1000" dirty="0">
                <a:solidFill>
                  <a:srgbClr val="5C7480"/>
                </a:solidFill>
                <a:latin typeface="Times New Roman" pitchFamily="34" charset="0"/>
                <a:ea typeface="Times New Roman" pitchFamily="34" charset="-122"/>
                <a:cs typeface="Times New Roman"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144000" cy="292608"/>
          </a:xfrm>
          <a:prstGeom prst="rect">
            <a:avLst/>
          </a:prstGeom>
          <a:noFill/>
          <a:ln/>
        </p:spPr>
        <p:txBody>
          <a:bodyPr wrap="square" rtlCol="0" anchor="ctr"/>
          <a:lstStyle/>
          <a:p>
            <a:pPr marL="0" indent="0">
              <a:buNone/>
            </a:pPr>
            <a:r>
              <a:rPr lang="en-US" b="1" kern="0" spc="200" dirty="0">
                <a:solidFill>
                  <a:srgbClr val="D98E32"/>
                </a:solidFill>
                <a:latin typeface="Times New Roman" pitchFamily="34" charset="0"/>
                <a:ea typeface="Times New Roman" pitchFamily="34" charset="-122"/>
                <a:cs typeface="Times New Roman" pitchFamily="34" charset="-120"/>
              </a:rPr>
              <a:t>VUE DYNAMIQUE</a:t>
            </a:r>
            <a:endParaRPr lang="en-US" dirty="0"/>
          </a:p>
        </p:txBody>
      </p:sp>
      <p:sp>
        <p:nvSpPr>
          <p:cNvPr id="3" name="Text 1"/>
          <p:cNvSpPr/>
          <p:nvPr/>
        </p:nvSpPr>
        <p:spPr>
          <a:xfrm>
            <a:off x="530352" y="530352"/>
            <a:ext cx="10424160" cy="603504"/>
          </a:xfrm>
          <a:prstGeom prst="rect">
            <a:avLst/>
          </a:prstGeom>
          <a:noFill/>
          <a:ln/>
        </p:spPr>
        <p:txBody>
          <a:bodyPr wrap="square" rtlCol="0" anchor="ctr"/>
          <a:lstStyle/>
          <a:p>
            <a:pPr marL="0" indent="0">
              <a:buNone/>
            </a:pPr>
            <a:r>
              <a:rPr lang="en-US" sz="3200" b="1" dirty="0">
                <a:solidFill>
                  <a:srgbClr val="0B4F6C"/>
                </a:solidFill>
                <a:latin typeface="Times New Roman" pitchFamily="34" charset="0"/>
                <a:ea typeface="Times New Roman" pitchFamily="34" charset="-122"/>
                <a:cs typeface="Times New Roman" pitchFamily="34" charset="-120"/>
              </a:rPr>
              <a:t>Séquence — Dépouillement et recours</a:t>
            </a:r>
            <a:endParaRPr lang="en-US" sz="3200" dirty="0"/>
          </a:p>
        </p:txBody>
      </p:sp>
      <p:sp>
        <p:nvSpPr>
          <p:cNvPr id="4" name="Shape 2"/>
          <p:cNvSpPr/>
          <p:nvPr/>
        </p:nvSpPr>
        <p:spPr>
          <a:xfrm>
            <a:off x="9921240" y="329184"/>
            <a:ext cx="1828800" cy="475488"/>
          </a:xfrm>
          <a:prstGeom prst="hexagon">
            <a:avLst/>
          </a:prstGeom>
          <a:solidFill>
            <a:srgbClr val="0B4F6C"/>
          </a:solidFill>
          <a:ln/>
        </p:spPr>
      </p:sp>
      <p:sp>
        <p:nvSpPr>
          <p:cNvPr id="5" name="Text 3"/>
          <p:cNvSpPr/>
          <p:nvPr/>
        </p:nvSpPr>
        <p:spPr>
          <a:xfrm>
            <a:off x="9921240" y="329184"/>
            <a:ext cx="1828800" cy="475488"/>
          </a:xfrm>
          <a:prstGeom prst="rect">
            <a:avLst/>
          </a:prstGeom>
          <a:noFill/>
          <a:ln/>
        </p:spPr>
        <p:txBody>
          <a:bodyPr wrap="square"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Figure 7</a:t>
            </a:r>
            <a:endParaRPr lang="en-US" sz="1400" dirty="0"/>
          </a:p>
        </p:txBody>
      </p:sp>
      <p:sp>
        <p:nvSpPr>
          <p:cNvPr id="6" name="Shape 4"/>
          <p:cNvSpPr/>
          <p:nvPr/>
        </p:nvSpPr>
        <p:spPr>
          <a:xfrm>
            <a:off x="414029" y="1152144"/>
            <a:ext cx="6670022" cy="5330952"/>
          </a:xfrm>
          <a:prstGeom prst="roundRect">
            <a:avLst>
              <a:gd name="adj" fmla="val 1029"/>
            </a:avLst>
          </a:prstGeom>
          <a:solidFill>
            <a:srgbClr val="FFFFFF"/>
          </a:solidFill>
          <a:ln w="12700">
            <a:solidFill>
              <a:srgbClr val="BFE0EA"/>
            </a:solidFill>
            <a:prstDash val="solid"/>
          </a:ln>
          <a:effectLst>
            <a:outerShdw blurRad="101600" dist="38100" dir="5400000" algn="bl" rotWithShape="0">
              <a:srgbClr val="0B4F6C">
                <a:alpha val="18000"/>
              </a:srgbClr>
            </a:outerShdw>
          </a:effectLst>
        </p:spPr>
      </p:sp>
      <p:pic>
        <p:nvPicPr>
          <p:cNvPr id="7" name="Image 0" descr="f8_sequence_attribution.png"/>
          <p:cNvPicPr>
            <a:picLocks noChangeAspect="1"/>
          </p:cNvPicPr>
          <p:nvPr/>
        </p:nvPicPr>
        <p:blipFill>
          <a:blip r:embed="rId3"/>
          <a:stretch>
            <a:fillRect/>
          </a:stretch>
        </p:blipFill>
        <p:spPr>
          <a:xfrm>
            <a:off x="542045" y="1280160"/>
            <a:ext cx="6413990" cy="5074920"/>
          </a:xfrm>
          <a:prstGeom prst="rect">
            <a:avLst/>
          </a:prstGeom>
        </p:spPr>
      </p:pic>
      <p:sp>
        <p:nvSpPr>
          <p:cNvPr id="8" name="Shape 5"/>
          <p:cNvSpPr/>
          <p:nvPr/>
        </p:nvSpPr>
        <p:spPr>
          <a:xfrm>
            <a:off x="7269480" y="1444752"/>
            <a:ext cx="146304" cy="146304"/>
          </a:xfrm>
          <a:prstGeom prst="ellipse">
            <a:avLst/>
          </a:prstGeom>
          <a:solidFill>
            <a:srgbClr val="D98E32"/>
          </a:solidFill>
          <a:ln/>
        </p:spPr>
      </p:sp>
      <p:sp>
        <p:nvSpPr>
          <p:cNvPr id="9" name="Text 6"/>
          <p:cNvSpPr/>
          <p:nvPr/>
        </p:nvSpPr>
        <p:spPr>
          <a:xfrm>
            <a:off x="7525512" y="1371600"/>
            <a:ext cx="4133088" cy="329184"/>
          </a:xfrm>
          <a:prstGeom prst="rect">
            <a:avLst/>
          </a:prstGeom>
          <a:noFill/>
          <a:ln/>
        </p:spPr>
        <p:txBody>
          <a:bodyPr wrap="square" rtlCol="0" anchor="ctr"/>
          <a:lstStyle/>
          <a:p>
            <a:pPr marL="0" indent="0">
              <a:buNone/>
            </a:pPr>
            <a:r>
              <a:rPr lang="en-US" sz="1600" b="1" dirty="0">
                <a:solidFill>
                  <a:srgbClr val="0B4F6C"/>
                </a:solidFill>
                <a:latin typeface="Times New Roman" pitchFamily="34" charset="0"/>
                <a:ea typeface="Times New Roman" pitchFamily="34" charset="-122"/>
                <a:cs typeface="Times New Roman" pitchFamily="34" charset="-120"/>
              </a:rPr>
              <a:t>Lecture du diagramme</a:t>
            </a:r>
            <a:endParaRPr lang="en-US" sz="1600" dirty="0"/>
          </a:p>
        </p:txBody>
      </p:sp>
      <p:sp>
        <p:nvSpPr>
          <p:cNvPr id="10" name="Text 7"/>
          <p:cNvSpPr/>
          <p:nvPr/>
        </p:nvSpPr>
        <p:spPr>
          <a:xfrm>
            <a:off x="7269480" y="1783080"/>
            <a:ext cx="4389120" cy="4526280"/>
          </a:xfrm>
          <a:prstGeom prst="rect">
            <a:avLst/>
          </a:prstGeom>
          <a:noFill/>
          <a:ln/>
        </p:spPr>
        <p:txBody>
          <a:bodyPr wrap="square" lIns="0" tIns="0" rIns="0" bIns="0" rtlCol="0" anchor="t"/>
          <a:lstStyle/>
          <a:p>
            <a:pPr marL="177800" indent="-177800" algn="just">
              <a:spcAft>
                <a:spcPts val="900"/>
              </a:spcAft>
              <a:buSzPct val="100000"/>
              <a:buChar char="•"/>
            </a:pPr>
            <a:r>
              <a:rPr lang="en-US" sz="1600" dirty="0">
                <a:solidFill>
                  <a:srgbClr val="26333D"/>
                </a:solidFill>
                <a:latin typeface="Times New Roman" pitchFamily="34" charset="0"/>
                <a:ea typeface="Times New Roman" pitchFamily="34" charset="-122"/>
                <a:cs typeface="Times New Roman" pitchFamily="34" charset="-120"/>
              </a:rPr>
              <a:t>Sept composants couvrent le dépouillement, l'attribution et la gestion des recours.</a:t>
            </a:r>
            <a:endParaRPr lang="en-US" sz="1600" dirty="0"/>
          </a:p>
          <a:p>
            <a:pPr marL="177800" indent="-177800" algn="just">
              <a:spcAft>
                <a:spcPts val="900"/>
              </a:spcAft>
              <a:buSzPct val="100000"/>
              <a:buChar char="•"/>
            </a:pPr>
            <a:r>
              <a:rPr lang="en-US" sz="1600" dirty="0">
                <a:solidFill>
                  <a:srgbClr val="26333D"/>
                </a:solidFill>
                <a:latin typeface="Times New Roman" pitchFamily="34" charset="0"/>
                <a:ea typeface="Times New Roman" pitchFamily="34" charset="-122"/>
                <a:cs typeface="Times New Roman" pitchFamily="34" charset="-120"/>
              </a:rPr>
              <a:t>Un fragment loop évalue chaque offre recevable (évaluation, classement, attribution provisoire).</a:t>
            </a:r>
            <a:endParaRPr lang="en-US" sz="1600" dirty="0"/>
          </a:p>
          <a:p>
            <a:pPr marL="177800" indent="-177800" algn="just">
              <a:spcAft>
                <a:spcPts val="900"/>
              </a:spcAft>
              <a:buSzPct val="100000"/>
              <a:buChar char="•"/>
            </a:pPr>
            <a:r>
              <a:rPr lang="en-US" sz="1600" dirty="0">
                <a:solidFill>
                  <a:srgbClr val="26333D"/>
                </a:solidFill>
                <a:latin typeface="Times New Roman" pitchFamily="34" charset="0"/>
                <a:ea typeface="Times New Roman" pitchFamily="34" charset="-122"/>
                <a:cs typeface="Times New Roman" pitchFamily="34" charset="-120"/>
              </a:rPr>
              <a:t>Un fragment alt externe gère le recours déposé dans le délai légal ; à l'intérieur, un second alt distingue le recours accepté (relance de la procédure) du recours rejeté (attribution rendue définitive).</a:t>
            </a:r>
            <a:endParaRPr lang="en-US" sz="1600" dirty="0"/>
          </a:p>
          <a:p>
            <a:pPr marL="177800" indent="-177800" algn="just">
              <a:spcAft>
                <a:spcPts val="900"/>
              </a:spcAft>
              <a:buSzPct val="100000"/>
              <a:buChar char="•"/>
            </a:pPr>
            <a:r>
              <a:rPr lang="en-US" sz="1600" dirty="0">
                <a:solidFill>
                  <a:srgbClr val="26333D"/>
                </a:solidFill>
                <a:latin typeface="Times New Roman" pitchFamily="34" charset="0"/>
                <a:ea typeface="Times New Roman" pitchFamily="34" charset="-122"/>
                <a:cs typeface="Times New Roman" pitchFamily="34" charset="-120"/>
              </a:rPr>
              <a:t>Dans tous les cas, creerContrat() est appelé après l'attribution définitive pour transmettre le dossier à l'ExecutionService.</a:t>
            </a:r>
            <a:endParaRPr lang="en-US" sz="1600" dirty="0"/>
          </a:p>
        </p:txBody>
      </p:sp>
      <p:sp>
        <p:nvSpPr>
          <p:cNvPr id="11" name="Text 8"/>
          <p:cNvSpPr/>
          <p:nvPr/>
        </p:nvSpPr>
        <p:spPr>
          <a:xfrm>
            <a:off x="457200" y="6528816"/>
            <a:ext cx="7772400" cy="274320"/>
          </a:xfrm>
          <a:prstGeom prst="rect">
            <a:avLst/>
          </a:prstGeom>
          <a:noFill/>
          <a:ln/>
        </p:spPr>
        <p:txBody>
          <a:bodyPr wrap="square" rtlCol="0" anchor="ctr"/>
          <a:lstStyle/>
          <a:p>
            <a:pPr marL="0" indent="0" algn="l">
              <a:buNone/>
            </a:pPr>
            <a:r>
              <a:rPr lang="en-US" sz="1000" dirty="0">
                <a:solidFill>
                  <a:srgbClr val="5C7480"/>
                </a:solidFill>
                <a:latin typeface="Times New Roman" pitchFamily="34" charset="0"/>
                <a:ea typeface="Times New Roman" pitchFamily="34" charset="-122"/>
                <a:cs typeface="Times New Roman" pitchFamily="34" charset="-120"/>
              </a:rPr>
              <a:t>SIGMAE — Cahier de spécification technique · Modélisation UML</a:t>
            </a:r>
            <a:endParaRPr lang="en-US" sz="1000" dirty="0"/>
          </a:p>
        </p:txBody>
      </p:sp>
      <p:sp>
        <p:nvSpPr>
          <p:cNvPr id="12" name="Text 9"/>
          <p:cNvSpPr/>
          <p:nvPr/>
        </p:nvSpPr>
        <p:spPr>
          <a:xfrm>
            <a:off x="10241280" y="6528816"/>
            <a:ext cx="1490472" cy="274320"/>
          </a:xfrm>
          <a:prstGeom prst="rect">
            <a:avLst/>
          </a:prstGeom>
          <a:noFill/>
          <a:ln/>
        </p:spPr>
        <p:txBody>
          <a:bodyPr wrap="square" rtlCol="0" anchor="ctr"/>
          <a:lstStyle/>
          <a:p>
            <a:pPr marL="0" indent="0" algn="r">
              <a:buNone/>
            </a:pPr>
            <a:r>
              <a:rPr lang="en-US" sz="1000" dirty="0">
                <a:solidFill>
                  <a:srgbClr val="5C7480"/>
                </a:solidFill>
                <a:latin typeface="Times New Roman" pitchFamily="34" charset="0"/>
                <a:ea typeface="Times New Roman" pitchFamily="34" charset="-122"/>
                <a:cs typeface="Times New Roman"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144000" cy="292608"/>
          </a:xfrm>
          <a:prstGeom prst="rect">
            <a:avLst/>
          </a:prstGeom>
          <a:noFill/>
          <a:ln/>
        </p:spPr>
        <p:txBody>
          <a:bodyPr wrap="square" rtlCol="0" anchor="ctr"/>
          <a:lstStyle/>
          <a:p>
            <a:pPr marL="0" indent="0">
              <a:buNone/>
            </a:pPr>
            <a:r>
              <a:rPr lang="en-US" b="1" kern="0" spc="200" dirty="0">
                <a:solidFill>
                  <a:srgbClr val="D98E32"/>
                </a:solidFill>
                <a:latin typeface="Times New Roman" pitchFamily="34" charset="0"/>
                <a:ea typeface="Times New Roman" pitchFamily="34" charset="-122"/>
                <a:cs typeface="Times New Roman" pitchFamily="34" charset="-120"/>
              </a:rPr>
              <a:t>VUE DYNAMIQUE</a:t>
            </a:r>
            <a:endParaRPr lang="en-US" dirty="0"/>
          </a:p>
        </p:txBody>
      </p:sp>
      <p:sp>
        <p:nvSpPr>
          <p:cNvPr id="3" name="Text 1"/>
          <p:cNvSpPr/>
          <p:nvPr/>
        </p:nvSpPr>
        <p:spPr>
          <a:xfrm>
            <a:off x="530352" y="530352"/>
            <a:ext cx="10424160" cy="603504"/>
          </a:xfrm>
          <a:prstGeom prst="rect">
            <a:avLst/>
          </a:prstGeom>
          <a:noFill/>
          <a:ln/>
        </p:spPr>
        <p:txBody>
          <a:bodyPr wrap="square" rtlCol="0" anchor="ctr"/>
          <a:lstStyle/>
          <a:p>
            <a:pPr marL="0" indent="0">
              <a:buNone/>
            </a:pPr>
            <a:r>
              <a:rPr lang="en-US" sz="3200" b="1" dirty="0">
                <a:solidFill>
                  <a:srgbClr val="0B4F6C"/>
                </a:solidFill>
                <a:latin typeface="Times New Roman" pitchFamily="34" charset="0"/>
                <a:ea typeface="Times New Roman" pitchFamily="34" charset="-122"/>
                <a:cs typeface="Times New Roman" pitchFamily="34" charset="-120"/>
              </a:rPr>
              <a:t>Séquence — Exécution et paiement</a:t>
            </a:r>
            <a:endParaRPr lang="en-US" sz="3200" dirty="0"/>
          </a:p>
        </p:txBody>
      </p:sp>
      <p:sp>
        <p:nvSpPr>
          <p:cNvPr id="4" name="Shape 2"/>
          <p:cNvSpPr/>
          <p:nvPr/>
        </p:nvSpPr>
        <p:spPr>
          <a:xfrm>
            <a:off x="9921240" y="329184"/>
            <a:ext cx="1828800" cy="475488"/>
          </a:xfrm>
          <a:prstGeom prst="hexagon">
            <a:avLst/>
          </a:prstGeom>
          <a:solidFill>
            <a:srgbClr val="0B4F6C"/>
          </a:solidFill>
          <a:ln/>
        </p:spPr>
      </p:sp>
      <p:sp>
        <p:nvSpPr>
          <p:cNvPr id="5" name="Text 3"/>
          <p:cNvSpPr/>
          <p:nvPr/>
        </p:nvSpPr>
        <p:spPr>
          <a:xfrm>
            <a:off x="9921240" y="329184"/>
            <a:ext cx="1828800" cy="475488"/>
          </a:xfrm>
          <a:prstGeom prst="rect">
            <a:avLst/>
          </a:prstGeom>
          <a:noFill/>
          <a:ln/>
        </p:spPr>
        <p:txBody>
          <a:bodyPr wrap="square"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Figure 8</a:t>
            </a:r>
            <a:endParaRPr lang="en-US" sz="1400" dirty="0"/>
          </a:p>
        </p:txBody>
      </p:sp>
      <p:sp>
        <p:nvSpPr>
          <p:cNvPr id="6" name="Shape 4"/>
          <p:cNvSpPr/>
          <p:nvPr/>
        </p:nvSpPr>
        <p:spPr>
          <a:xfrm>
            <a:off x="374904" y="1133856"/>
            <a:ext cx="7022592" cy="5311768"/>
          </a:xfrm>
          <a:prstGeom prst="roundRect">
            <a:avLst>
              <a:gd name="adj" fmla="val 1174"/>
            </a:avLst>
          </a:prstGeom>
          <a:solidFill>
            <a:srgbClr val="FFFFFF"/>
          </a:solidFill>
          <a:ln w="12700">
            <a:solidFill>
              <a:srgbClr val="BFE0EA"/>
            </a:solidFill>
            <a:prstDash val="solid"/>
          </a:ln>
          <a:effectLst>
            <a:outerShdw blurRad="101600" dist="38100" dir="5400000" algn="bl" rotWithShape="0">
              <a:srgbClr val="0B4F6C">
                <a:alpha val="18000"/>
              </a:srgbClr>
            </a:outerShdw>
          </a:effectLst>
        </p:spPr>
      </p:sp>
      <p:pic>
        <p:nvPicPr>
          <p:cNvPr id="7" name="Image 0" descr="f9_sequence_execution.png"/>
          <p:cNvPicPr>
            <a:picLocks noChangeAspect="1"/>
          </p:cNvPicPr>
          <p:nvPr/>
        </p:nvPicPr>
        <p:blipFill>
          <a:blip r:embed="rId3"/>
          <a:stretch>
            <a:fillRect/>
          </a:stretch>
        </p:blipFill>
        <p:spPr>
          <a:xfrm>
            <a:off x="502920" y="1335024"/>
            <a:ext cx="6766560" cy="4992624"/>
          </a:xfrm>
          <a:prstGeom prst="rect">
            <a:avLst/>
          </a:prstGeom>
        </p:spPr>
      </p:pic>
      <p:sp>
        <p:nvSpPr>
          <p:cNvPr id="8" name="Shape 5"/>
          <p:cNvSpPr/>
          <p:nvPr/>
        </p:nvSpPr>
        <p:spPr>
          <a:xfrm>
            <a:off x="7543800" y="1444752"/>
            <a:ext cx="146304" cy="146304"/>
          </a:xfrm>
          <a:prstGeom prst="ellipse">
            <a:avLst/>
          </a:prstGeom>
          <a:solidFill>
            <a:srgbClr val="D98E32"/>
          </a:solidFill>
          <a:ln/>
        </p:spPr>
      </p:sp>
      <p:sp>
        <p:nvSpPr>
          <p:cNvPr id="9" name="Text 6"/>
          <p:cNvSpPr/>
          <p:nvPr/>
        </p:nvSpPr>
        <p:spPr>
          <a:xfrm>
            <a:off x="7799832" y="1371600"/>
            <a:ext cx="3858768" cy="329184"/>
          </a:xfrm>
          <a:prstGeom prst="rect">
            <a:avLst/>
          </a:prstGeom>
          <a:noFill/>
          <a:ln/>
        </p:spPr>
        <p:txBody>
          <a:bodyPr wrap="square" rtlCol="0" anchor="ctr"/>
          <a:lstStyle/>
          <a:p>
            <a:pPr marL="0" indent="0">
              <a:buNone/>
            </a:pPr>
            <a:r>
              <a:rPr lang="en-US" sz="1600" b="1" dirty="0">
                <a:solidFill>
                  <a:srgbClr val="0B4F6C"/>
                </a:solidFill>
                <a:latin typeface="Times New Roman" pitchFamily="34" charset="0"/>
                <a:ea typeface="Times New Roman" pitchFamily="34" charset="-122"/>
                <a:cs typeface="Times New Roman" pitchFamily="34" charset="-120"/>
              </a:rPr>
              <a:t>Lecture du diagramme</a:t>
            </a:r>
            <a:endParaRPr lang="en-US" sz="1600" dirty="0"/>
          </a:p>
        </p:txBody>
      </p:sp>
      <p:sp>
        <p:nvSpPr>
          <p:cNvPr id="10" name="Text 7"/>
          <p:cNvSpPr/>
          <p:nvPr/>
        </p:nvSpPr>
        <p:spPr>
          <a:xfrm>
            <a:off x="7543800" y="1783080"/>
            <a:ext cx="4114800" cy="3524026"/>
          </a:xfrm>
          <a:prstGeom prst="rect">
            <a:avLst/>
          </a:prstGeom>
          <a:noFill/>
          <a:ln/>
        </p:spPr>
        <p:txBody>
          <a:bodyPr wrap="square" lIns="0" tIns="0" rIns="0" bIns="0" rtlCol="0" anchor="t"/>
          <a:lstStyle/>
          <a:p>
            <a:pPr marL="285750" indent="-285750" algn="just">
              <a:spcAft>
                <a:spcPts val="1000"/>
              </a:spcAft>
              <a:buSzPct val="100000"/>
              <a:buFont typeface="Wingdings" panose="05000000000000000000" pitchFamily="2" charset="2"/>
              <a:buChar char="v"/>
            </a:pPr>
            <a:r>
              <a:rPr lang="en-US" sz="1600" dirty="0">
                <a:solidFill>
                  <a:srgbClr val="26333D"/>
                </a:solidFill>
                <a:latin typeface="Times New Roman" pitchFamily="34" charset="0"/>
                <a:ea typeface="Times New Roman" pitchFamily="34" charset="-122"/>
                <a:cs typeface="Times New Roman" pitchFamily="34" charset="-120"/>
              </a:rPr>
              <a:t>Huit participants couvrent l'exécution, la livraison, la réception et le paiement, dans la continuité du diagramme </a:t>
            </a:r>
            <a:r>
              <a:rPr lang="en-US" sz="1600" dirty="0" err="1">
                <a:solidFill>
                  <a:srgbClr val="26333D"/>
                </a:solidFill>
                <a:latin typeface="Times New Roman" pitchFamily="34" charset="0"/>
                <a:ea typeface="Times New Roman" pitchFamily="34" charset="-122"/>
                <a:cs typeface="Times New Roman" pitchFamily="34" charset="-120"/>
              </a:rPr>
              <a:t>précédent</a:t>
            </a:r>
            <a:r>
              <a:rPr lang="en-US" sz="1600" dirty="0">
                <a:solidFill>
                  <a:srgbClr val="26333D"/>
                </a:solidFill>
                <a:latin typeface="Times New Roman" pitchFamily="34" charset="0"/>
                <a:ea typeface="Times New Roman" pitchFamily="34" charset="-122"/>
                <a:cs typeface="Times New Roman" pitchFamily="34" charset="-120"/>
              </a:rPr>
              <a:t>.</a:t>
            </a:r>
            <a:endParaRPr lang="en-US" sz="1600" dirty="0"/>
          </a:p>
          <a:p>
            <a:pPr marL="285750" indent="-285750" algn="just">
              <a:spcAft>
                <a:spcPts val="1000"/>
              </a:spcAft>
              <a:buSzPct val="100000"/>
              <a:buFont typeface="Wingdings" panose="05000000000000000000" pitchFamily="2" charset="2"/>
              <a:buChar char="v"/>
            </a:pPr>
            <a:r>
              <a:rPr lang="en-US" sz="1600" dirty="0">
                <a:solidFill>
                  <a:srgbClr val="26333D"/>
                </a:solidFill>
                <a:latin typeface="Times New Roman" pitchFamily="34" charset="0"/>
                <a:ea typeface="Times New Roman" pitchFamily="34" charset="-122"/>
                <a:cs typeface="Times New Roman" pitchFamily="34" charset="-120"/>
              </a:rPr>
              <a:t>Un fragment opt modélise le versement d'une avance conditionnel, à la discrétion du Directeur.</a:t>
            </a:r>
            <a:endParaRPr lang="en-US" sz="1600" dirty="0"/>
          </a:p>
          <a:p>
            <a:pPr marL="285750" indent="-285750" algn="just">
              <a:spcAft>
                <a:spcPts val="1000"/>
              </a:spcAft>
              <a:buSzPct val="100000"/>
              <a:buFont typeface="Wingdings" panose="05000000000000000000" pitchFamily="2" charset="2"/>
              <a:buChar char="v"/>
            </a:pPr>
            <a:r>
              <a:rPr lang="en-US" sz="1600" dirty="0">
                <a:solidFill>
                  <a:srgbClr val="26333D"/>
                </a:solidFill>
                <a:latin typeface="Times New Roman" pitchFamily="34" charset="0"/>
                <a:ea typeface="Times New Roman" pitchFamily="34" charset="-122"/>
                <a:cs typeface="Times New Roman" pitchFamily="34" charset="-120"/>
              </a:rPr>
              <a:t>Un fragment alt distingue la livraison conforme (PV de réception, certificat, paiement) de la livraison non conforme (notification, correction, nouvelle livraison), avec une boucle implicite jusqu'à réception conforme.</a:t>
            </a:r>
            <a:endParaRPr lang="en-US" sz="1600" dirty="0"/>
          </a:p>
        </p:txBody>
      </p:sp>
      <p:sp>
        <p:nvSpPr>
          <p:cNvPr id="11" name="Text 8"/>
          <p:cNvSpPr/>
          <p:nvPr/>
        </p:nvSpPr>
        <p:spPr>
          <a:xfrm>
            <a:off x="457200" y="6528816"/>
            <a:ext cx="7772400" cy="274320"/>
          </a:xfrm>
          <a:prstGeom prst="rect">
            <a:avLst/>
          </a:prstGeom>
          <a:noFill/>
          <a:ln/>
        </p:spPr>
        <p:txBody>
          <a:bodyPr wrap="square" rtlCol="0" anchor="ctr"/>
          <a:lstStyle/>
          <a:p>
            <a:pPr marL="0" indent="0" algn="l">
              <a:buNone/>
            </a:pPr>
            <a:r>
              <a:rPr lang="en-US" sz="1000" dirty="0">
                <a:solidFill>
                  <a:srgbClr val="5C7480"/>
                </a:solidFill>
                <a:latin typeface="Times New Roman" pitchFamily="34" charset="0"/>
                <a:ea typeface="Times New Roman" pitchFamily="34" charset="-122"/>
                <a:cs typeface="Times New Roman" pitchFamily="34" charset="-120"/>
              </a:rPr>
              <a:t>SIGMAE — Cahier de spécification technique · Modélisation UML</a:t>
            </a:r>
            <a:endParaRPr lang="en-US" sz="1000" dirty="0"/>
          </a:p>
        </p:txBody>
      </p:sp>
      <p:sp>
        <p:nvSpPr>
          <p:cNvPr id="12" name="Text 9"/>
          <p:cNvSpPr/>
          <p:nvPr/>
        </p:nvSpPr>
        <p:spPr>
          <a:xfrm>
            <a:off x="10241280" y="6528816"/>
            <a:ext cx="1490472" cy="274320"/>
          </a:xfrm>
          <a:prstGeom prst="rect">
            <a:avLst/>
          </a:prstGeom>
          <a:noFill/>
          <a:ln/>
        </p:spPr>
        <p:txBody>
          <a:bodyPr wrap="square" rtlCol="0" anchor="ctr"/>
          <a:lstStyle/>
          <a:p>
            <a:pPr marL="0" indent="0" algn="r">
              <a:buNone/>
            </a:pPr>
            <a:r>
              <a:rPr lang="en-US" sz="1000" dirty="0">
                <a:solidFill>
                  <a:srgbClr val="5C7480"/>
                </a:solidFill>
                <a:latin typeface="Times New Roman" pitchFamily="34" charset="0"/>
                <a:ea typeface="Times New Roman" pitchFamily="34" charset="-122"/>
                <a:cs typeface="Times New Roman"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144000" cy="292608"/>
          </a:xfrm>
          <a:prstGeom prst="rect">
            <a:avLst/>
          </a:prstGeom>
          <a:noFill/>
          <a:ln/>
        </p:spPr>
        <p:txBody>
          <a:bodyPr wrap="square" rtlCol="0" anchor="ctr"/>
          <a:lstStyle/>
          <a:p>
            <a:pPr marL="0" indent="0">
              <a:buNone/>
            </a:pPr>
            <a:r>
              <a:rPr lang="en-US" b="1" kern="0" spc="200" dirty="0">
                <a:solidFill>
                  <a:srgbClr val="D98E32"/>
                </a:solidFill>
                <a:latin typeface="Times New Roman" pitchFamily="34" charset="0"/>
                <a:ea typeface="Times New Roman" pitchFamily="34" charset="-122"/>
                <a:cs typeface="Times New Roman" pitchFamily="34" charset="-120"/>
              </a:rPr>
              <a:t>SYNTHÈSE</a:t>
            </a:r>
            <a:endParaRPr lang="en-US" dirty="0"/>
          </a:p>
        </p:txBody>
      </p:sp>
      <p:sp>
        <p:nvSpPr>
          <p:cNvPr id="3" name="Text 1"/>
          <p:cNvSpPr/>
          <p:nvPr/>
        </p:nvSpPr>
        <p:spPr>
          <a:xfrm>
            <a:off x="522194" y="575532"/>
            <a:ext cx="10424160" cy="603504"/>
          </a:xfrm>
          <a:prstGeom prst="rect">
            <a:avLst/>
          </a:prstGeom>
          <a:noFill/>
          <a:ln/>
        </p:spPr>
        <p:txBody>
          <a:bodyPr wrap="square" rtlCol="0" anchor="ctr"/>
          <a:lstStyle/>
          <a:p>
            <a:pPr marL="0" indent="0">
              <a:buNone/>
            </a:pPr>
            <a:r>
              <a:rPr lang="en-US" sz="3200" b="1" dirty="0">
                <a:solidFill>
                  <a:srgbClr val="0B4F6C"/>
                </a:solidFill>
                <a:latin typeface="Times New Roman" pitchFamily="34" charset="0"/>
                <a:ea typeface="Times New Roman" pitchFamily="34" charset="-122"/>
                <a:cs typeface="Times New Roman" pitchFamily="34" charset="-120"/>
              </a:rPr>
              <a:t>Ce que couvre la modélisation UML</a:t>
            </a:r>
            <a:endParaRPr lang="en-US" sz="3200" dirty="0"/>
          </a:p>
        </p:txBody>
      </p:sp>
      <p:sp>
        <p:nvSpPr>
          <p:cNvPr id="4" name="Shape 2"/>
          <p:cNvSpPr/>
          <p:nvPr/>
        </p:nvSpPr>
        <p:spPr>
          <a:xfrm>
            <a:off x="548640" y="1444752"/>
            <a:ext cx="146304" cy="146304"/>
          </a:xfrm>
          <a:prstGeom prst="ellipse">
            <a:avLst/>
          </a:prstGeom>
          <a:solidFill>
            <a:srgbClr val="D98E32"/>
          </a:solidFill>
          <a:ln/>
        </p:spPr>
      </p:sp>
      <p:sp>
        <p:nvSpPr>
          <p:cNvPr id="5" name="Text 3"/>
          <p:cNvSpPr/>
          <p:nvPr/>
        </p:nvSpPr>
        <p:spPr>
          <a:xfrm>
            <a:off x="804672" y="1371600"/>
            <a:ext cx="5138928" cy="329184"/>
          </a:xfrm>
          <a:prstGeom prst="rect">
            <a:avLst/>
          </a:prstGeom>
          <a:noFill/>
          <a:ln/>
        </p:spPr>
        <p:txBody>
          <a:bodyPr wrap="square" rtlCol="0" anchor="ctr"/>
          <a:lstStyle/>
          <a:p>
            <a:pPr marL="0" indent="0">
              <a:buNone/>
            </a:pPr>
            <a:r>
              <a:rPr lang="en-US" sz="1600" b="1" dirty="0">
                <a:solidFill>
                  <a:srgbClr val="0B4F6C"/>
                </a:solidFill>
                <a:latin typeface="Times New Roman" pitchFamily="34" charset="0"/>
                <a:ea typeface="Times New Roman" pitchFamily="34" charset="-122"/>
                <a:cs typeface="Times New Roman" pitchFamily="34" charset="-120"/>
              </a:rPr>
              <a:t>Un socle de conception complet</a:t>
            </a:r>
            <a:endParaRPr lang="en-US" sz="1600" dirty="0"/>
          </a:p>
        </p:txBody>
      </p:sp>
      <p:sp>
        <p:nvSpPr>
          <p:cNvPr id="6" name="Text 4"/>
          <p:cNvSpPr/>
          <p:nvPr/>
        </p:nvSpPr>
        <p:spPr>
          <a:xfrm>
            <a:off x="548640" y="2340150"/>
            <a:ext cx="5394960" cy="2402179"/>
          </a:xfrm>
          <a:prstGeom prst="rect">
            <a:avLst/>
          </a:prstGeom>
          <a:noFill/>
          <a:ln/>
        </p:spPr>
        <p:txBody>
          <a:bodyPr wrap="square" lIns="0" tIns="0" rIns="0" bIns="0" rtlCol="0" anchor="t"/>
          <a:lstStyle/>
          <a:p>
            <a:pPr marL="285750" indent="-285750" algn="just">
              <a:spcAft>
                <a:spcPts val="1300"/>
              </a:spcAft>
              <a:buSzPct val="100000"/>
              <a:buFont typeface="Wingdings" panose="05000000000000000000" pitchFamily="2" charset="2"/>
              <a:buChar char="v"/>
            </a:pPr>
            <a:r>
              <a:rPr lang="fr-FR" dirty="0">
                <a:solidFill>
                  <a:srgbClr val="26333D"/>
                </a:solidFill>
                <a:latin typeface="Times New Roman" pitchFamily="34" charset="0"/>
                <a:ea typeface="Times New Roman" pitchFamily="34" charset="-122"/>
                <a:cs typeface="Times New Roman" pitchFamily="34" charset="-120"/>
              </a:rPr>
              <a:t>Diagramme de cas d'utilisation et diagramme de classes pour la vue fonctionnelle et le modèle de domaine.</a:t>
            </a:r>
            <a:endParaRPr lang="fr-FR" dirty="0"/>
          </a:p>
          <a:p>
            <a:pPr marL="285750" indent="-285750" algn="just">
              <a:spcAft>
                <a:spcPts val="1300"/>
              </a:spcAft>
              <a:buSzPct val="100000"/>
              <a:buFont typeface="Wingdings" panose="05000000000000000000" pitchFamily="2" charset="2"/>
              <a:buChar char="v"/>
            </a:pPr>
            <a:r>
              <a:rPr lang="fr-FR" dirty="0">
                <a:solidFill>
                  <a:srgbClr val="26333D"/>
                </a:solidFill>
                <a:latin typeface="Times New Roman" pitchFamily="34" charset="0"/>
                <a:ea typeface="Times New Roman" pitchFamily="34" charset="-122"/>
                <a:cs typeface="Times New Roman" pitchFamily="34" charset="-120"/>
              </a:rPr>
              <a:t>Diagramme d'états pour le cycle de vie réglementaire du marché.</a:t>
            </a:r>
            <a:endParaRPr lang="fr-FR" dirty="0"/>
          </a:p>
          <a:p>
            <a:pPr marL="285750" indent="-285750" algn="just">
              <a:spcAft>
                <a:spcPts val="1300"/>
              </a:spcAft>
              <a:buSzPct val="100000"/>
              <a:buFont typeface="Wingdings" panose="05000000000000000000" pitchFamily="2" charset="2"/>
              <a:buChar char="v"/>
            </a:pPr>
            <a:r>
              <a:rPr lang="fr-FR" dirty="0">
                <a:solidFill>
                  <a:srgbClr val="26333D"/>
                </a:solidFill>
                <a:latin typeface="Times New Roman" pitchFamily="34" charset="0"/>
                <a:ea typeface="Times New Roman" pitchFamily="34" charset="-122"/>
                <a:cs typeface="Times New Roman" pitchFamily="34" charset="-120"/>
              </a:rPr>
              <a:t>Diagrammes d'activité et de séquence pour la vue dynamique, du recueil des besoins au paiement.</a:t>
            </a:r>
            <a:endParaRPr lang="fr-FR" dirty="0"/>
          </a:p>
        </p:txBody>
      </p:sp>
      <p:sp>
        <p:nvSpPr>
          <p:cNvPr id="7" name="Shape 5"/>
          <p:cNvSpPr/>
          <p:nvPr/>
        </p:nvSpPr>
        <p:spPr>
          <a:xfrm>
            <a:off x="6442933" y="1444752"/>
            <a:ext cx="146304" cy="146304"/>
          </a:xfrm>
          <a:prstGeom prst="ellipse">
            <a:avLst/>
          </a:prstGeom>
          <a:solidFill>
            <a:srgbClr val="D98E32"/>
          </a:solidFill>
          <a:ln/>
        </p:spPr>
      </p:sp>
      <p:sp>
        <p:nvSpPr>
          <p:cNvPr id="8" name="Text 6"/>
          <p:cNvSpPr/>
          <p:nvPr/>
        </p:nvSpPr>
        <p:spPr>
          <a:xfrm>
            <a:off x="6698965" y="1371600"/>
            <a:ext cx="5138928" cy="329184"/>
          </a:xfrm>
          <a:prstGeom prst="rect">
            <a:avLst/>
          </a:prstGeom>
          <a:noFill/>
          <a:ln/>
        </p:spPr>
        <p:txBody>
          <a:bodyPr wrap="square" rtlCol="0" anchor="ctr"/>
          <a:lstStyle/>
          <a:p>
            <a:pPr marL="0" indent="0">
              <a:buNone/>
            </a:pPr>
            <a:r>
              <a:rPr lang="en-US" sz="1600" b="1" dirty="0">
                <a:solidFill>
                  <a:srgbClr val="0B4F6C"/>
                </a:solidFill>
                <a:latin typeface="Times New Roman" pitchFamily="34" charset="0"/>
                <a:ea typeface="Times New Roman" pitchFamily="34" charset="-122"/>
                <a:cs typeface="Times New Roman" pitchFamily="34" charset="-120"/>
              </a:rPr>
              <a:t>Prochaines étapes</a:t>
            </a:r>
            <a:endParaRPr lang="en-US" sz="1600" dirty="0"/>
          </a:p>
        </p:txBody>
      </p:sp>
      <p:sp>
        <p:nvSpPr>
          <p:cNvPr id="9" name="Shape 7"/>
          <p:cNvSpPr/>
          <p:nvPr/>
        </p:nvSpPr>
        <p:spPr>
          <a:xfrm>
            <a:off x="6263640" y="2099895"/>
            <a:ext cx="502920" cy="502920"/>
          </a:xfrm>
          <a:prstGeom prst="hexagon">
            <a:avLst/>
          </a:prstGeom>
          <a:solidFill>
            <a:srgbClr val="D98E32"/>
          </a:solidFill>
          <a:ln/>
        </p:spPr>
      </p:sp>
      <p:sp>
        <p:nvSpPr>
          <p:cNvPr id="10" name="Text 8"/>
          <p:cNvSpPr/>
          <p:nvPr/>
        </p:nvSpPr>
        <p:spPr>
          <a:xfrm>
            <a:off x="6263640" y="2099895"/>
            <a:ext cx="502920" cy="502920"/>
          </a:xfrm>
          <a:prstGeom prst="rect">
            <a:avLst/>
          </a:prstGeom>
          <a:noFill/>
          <a:ln/>
        </p:spPr>
        <p:txBody>
          <a:bodyPr wrap="square" rtlCol="0" anchor="ctr"/>
          <a:lstStyle/>
          <a:p>
            <a:pPr marL="0" indent="0" algn="ctr">
              <a:buNone/>
            </a:pPr>
            <a:r>
              <a:rPr lang="en-US" sz="1800" b="1" dirty="0">
                <a:solidFill>
                  <a:srgbClr val="0B4F6C"/>
                </a:solidFill>
                <a:latin typeface="Times New Roman" pitchFamily="34" charset="0"/>
                <a:ea typeface="Times New Roman" pitchFamily="34" charset="-122"/>
                <a:cs typeface="Times New Roman" pitchFamily="34" charset="-120"/>
              </a:rPr>
              <a:t>1</a:t>
            </a:r>
            <a:endParaRPr lang="en-US" sz="1800" dirty="0"/>
          </a:p>
        </p:txBody>
      </p:sp>
      <p:sp>
        <p:nvSpPr>
          <p:cNvPr id="11" name="Text 9"/>
          <p:cNvSpPr/>
          <p:nvPr/>
        </p:nvSpPr>
        <p:spPr>
          <a:xfrm>
            <a:off x="6967728" y="1892808"/>
            <a:ext cx="4663440" cy="868680"/>
          </a:xfrm>
          <a:prstGeom prst="rect">
            <a:avLst/>
          </a:prstGeom>
          <a:noFill/>
          <a:ln/>
        </p:spPr>
        <p:txBody>
          <a:bodyPr wrap="square" rtlCol="0" anchor="ctr"/>
          <a:lstStyle/>
          <a:p>
            <a:pPr marL="0" indent="0">
              <a:buNone/>
            </a:pPr>
            <a:r>
              <a:rPr lang="en-US" sz="1350" dirty="0">
                <a:solidFill>
                  <a:srgbClr val="26333D"/>
                </a:solidFill>
                <a:latin typeface="Times New Roman" pitchFamily="34" charset="0"/>
                <a:ea typeface="Times New Roman" pitchFamily="34" charset="-122"/>
                <a:cs typeface="Times New Roman" pitchFamily="34" charset="-120"/>
              </a:rPr>
              <a:t>Mise en place du squelette Spring Boot multi-modules</a:t>
            </a:r>
            <a:endParaRPr lang="en-US" sz="1350" dirty="0"/>
          </a:p>
        </p:txBody>
      </p:sp>
      <p:sp>
        <p:nvSpPr>
          <p:cNvPr id="12" name="Shape 10"/>
          <p:cNvSpPr/>
          <p:nvPr/>
        </p:nvSpPr>
        <p:spPr>
          <a:xfrm>
            <a:off x="6263640" y="3124023"/>
            <a:ext cx="502920" cy="502920"/>
          </a:xfrm>
          <a:prstGeom prst="hexagon">
            <a:avLst/>
          </a:prstGeom>
          <a:solidFill>
            <a:srgbClr val="D98E32"/>
          </a:solidFill>
          <a:ln/>
        </p:spPr>
        <p:txBody>
          <a:bodyPr/>
          <a:lstStyle/>
          <a:p>
            <a:endParaRPr lang="fr-FR" dirty="0"/>
          </a:p>
        </p:txBody>
      </p:sp>
      <p:sp>
        <p:nvSpPr>
          <p:cNvPr id="13" name="Text 11"/>
          <p:cNvSpPr/>
          <p:nvPr/>
        </p:nvSpPr>
        <p:spPr>
          <a:xfrm>
            <a:off x="6263640" y="3097131"/>
            <a:ext cx="502920" cy="502920"/>
          </a:xfrm>
          <a:prstGeom prst="rect">
            <a:avLst/>
          </a:prstGeom>
          <a:noFill/>
          <a:ln/>
        </p:spPr>
        <p:txBody>
          <a:bodyPr wrap="square" rtlCol="0" anchor="ctr"/>
          <a:lstStyle/>
          <a:p>
            <a:pPr marL="0" indent="0" algn="ctr">
              <a:buNone/>
            </a:pPr>
            <a:r>
              <a:rPr lang="en-US" sz="1800" b="1" dirty="0">
                <a:solidFill>
                  <a:srgbClr val="0B4F6C"/>
                </a:solidFill>
                <a:latin typeface="Times New Roman" pitchFamily="34" charset="0"/>
                <a:ea typeface="Times New Roman" pitchFamily="34" charset="-122"/>
                <a:cs typeface="Times New Roman" pitchFamily="34" charset="-120"/>
              </a:rPr>
              <a:t>2</a:t>
            </a:r>
            <a:endParaRPr lang="en-US" sz="1800" dirty="0"/>
          </a:p>
        </p:txBody>
      </p:sp>
      <p:sp>
        <p:nvSpPr>
          <p:cNvPr id="14" name="Text 12"/>
          <p:cNvSpPr/>
          <p:nvPr/>
        </p:nvSpPr>
        <p:spPr>
          <a:xfrm>
            <a:off x="6967728" y="2916936"/>
            <a:ext cx="4663440" cy="868680"/>
          </a:xfrm>
          <a:prstGeom prst="rect">
            <a:avLst/>
          </a:prstGeom>
          <a:noFill/>
          <a:ln/>
        </p:spPr>
        <p:txBody>
          <a:bodyPr wrap="square" rtlCol="0" anchor="ctr"/>
          <a:lstStyle/>
          <a:p>
            <a:pPr marL="0" indent="0">
              <a:buNone/>
            </a:pPr>
            <a:r>
              <a:rPr lang="en-US" sz="1350" dirty="0">
                <a:solidFill>
                  <a:srgbClr val="26333D"/>
                </a:solidFill>
                <a:latin typeface="Times New Roman" pitchFamily="34" charset="0"/>
                <a:ea typeface="Times New Roman" pitchFamily="34" charset="-122"/>
                <a:cs typeface="Times New Roman" pitchFamily="34" charset="-120"/>
              </a:rPr>
              <a:t>Implémentation des services dans l'ordre fonctionnel : besoins → marchés → exécution</a:t>
            </a:r>
            <a:endParaRPr lang="en-US" sz="1350" dirty="0"/>
          </a:p>
        </p:txBody>
      </p:sp>
      <p:sp>
        <p:nvSpPr>
          <p:cNvPr id="15" name="Shape 13"/>
          <p:cNvSpPr/>
          <p:nvPr/>
        </p:nvSpPr>
        <p:spPr>
          <a:xfrm>
            <a:off x="6263640" y="4121254"/>
            <a:ext cx="502920" cy="502920"/>
          </a:xfrm>
          <a:prstGeom prst="hexagon">
            <a:avLst/>
          </a:prstGeom>
          <a:solidFill>
            <a:srgbClr val="D98E32"/>
          </a:solidFill>
          <a:ln/>
        </p:spPr>
      </p:sp>
      <p:sp>
        <p:nvSpPr>
          <p:cNvPr id="16" name="Text 14"/>
          <p:cNvSpPr/>
          <p:nvPr/>
        </p:nvSpPr>
        <p:spPr>
          <a:xfrm>
            <a:off x="6263640" y="4112290"/>
            <a:ext cx="502920" cy="502920"/>
          </a:xfrm>
          <a:prstGeom prst="rect">
            <a:avLst/>
          </a:prstGeom>
          <a:noFill/>
          <a:ln/>
        </p:spPr>
        <p:txBody>
          <a:bodyPr wrap="square" rtlCol="0" anchor="ctr"/>
          <a:lstStyle/>
          <a:p>
            <a:pPr marL="0" indent="0" algn="ctr">
              <a:buNone/>
            </a:pPr>
            <a:r>
              <a:rPr lang="en-US" sz="1800" b="1" dirty="0">
                <a:solidFill>
                  <a:srgbClr val="0B4F6C"/>
                </a:solidFill>
                <a:latin typeface="Times New Roman" pitchFamily="34" charset="0"/>
                <a:ea typeface="Times New Roman" pitchFamily="34" charset="-122"/>
                <a:cs typeface="Times New Roman" pitchFamily="34" charset="-120"/>
              </a:rPr>
              <a:t>3</a:t>
            </a:r>
            <a:endParaRPr lang="en-US" sz="1800" dirty="0"/>
          </a:p>
        </p:txBody>
      </p:sp>
      <p:sp>
        <p:nvSpPr>
          <p:cNvPr id="17" name="Text 15"/>
          <p:cNvSpPr/>
          <p:nvPr/>
        </p:nvSpPr>
        <p:spPr>
          <a:xfrm>
            <a:off x="6967728" y="3941064"/>
            <a:ext cx="4663440" cy="868680"/>
          </a:xfrm>
          <a:prstGeom prst="rect">
            <a:avLst/>
          </a:prstGeom>
          <a:noFill/>
          <a:ln/>
        </p:spPr>
        <p:txBody>
          <a:bodyPr wrap="square" rtlCol="0" anchor="ctr"/>
          <a:lstStyle/>
          <a:p>
            <a:pPr marL="0" indent="0">
              <a:buNone/>
            </a:pPr>
            <a:r>
              <a:rPr lang="en-US" sz="1350" dirty="0">
                <a:solidFill>
                  <a:srgbClr val="26333D"/>
                </a:solidFill>
                <a:latin typeface="Times New Roman" pitchFamily="34" charset="0"/>
                <a:ea typeface="Times New Roman" pitchFamily="34" charset="-122"/>
                <a:cs typeface="Times New Roman" pitchFamily="34" charset="-120"/>
              </a:rPr>
              <a:t>Tests d'intégration et de conformité réglementaire</a:t>
            </a:r>
            <a:endParaRPr lang="en-US" sz="1350" dirty="0"/>
          </a:p>
        </p:txBody>
      </p:sp>
      <p:sp>
        <p:nvSpPr>
          <p:cNvPr id="18" name="Shape 16"/>
          <p:cNvSpPr/>
          <p:nvPr/>
        </p:nvSpPr>
        <p:spPr>
          <a:xfrm>
            <a:off x="6263640" y="5172279"/>
            <a:ext cx="502920" cy="502920"/>
          </a:xfrm>
          <a:prstGeom prst="hexagon">
            <a:avLst/>
          </a:prstGeom>
          <a:solidFill>
            <a:srgbClr val="D98E32"/>
          </a:solidFill>
          <a:ln/>
        </p:spPr>
      </p:sp>
      <p:sp>
        <p:nvSpPr>
          <p:cNvPr id="19" name="Text 17"/>
          <p:cNvSpPr/>
          <p:nvPr/>
        </p:nvSpPr>
        <p:spPr>
          <a:xfrm>
            <a:off x="6263640" y="5136419"/>
            <a:ext cx="502920" cy="502920"/>
          </a:xfrm>
          <a:prstGeom prst="rect">
            <a:avLst/>
          </a:prstGeom>
          <a:noFill/>
          <a:ln/>
        </p:spPr>
        <p:txBody>
          <a:bodyPr wrap="square" rtlCol="0" anchor="ctr"/>
          <a:lstStyle/>
          <a:p>
            <a:pPr marL="0" indent="0" algn="ctr">
              <a:buNone/>
            </a:pPr>
            <a:r>
              <a:rPr lang="en-US" sz="1800" b="1" dirty="0">
                <a:solidFill>
                  <a:srgbClr val="0B4F6C"/>
                </a:solidFill>
                <a:latin typeface="Times New Roman" pitchFamily="34" charset="0"/>
                <a:ea typeface="Times New Roman" pitchFamily="34" charset="-122"/>
                <a:cs typeface="Times New Roman" pitchFamily="34" charset="-120"/>
              </a:rPr>
              <a:t>4</a:t>
            </a:r>
            <a:endParaRPr lang="en-US" sz="1800" dirty="0"/>
          </a:p>
        </p:txBody>
      </p:sp>
      <p:sp>
        <p:nvSpPr>
          <p:cNvPr id="20" name="Text 18"/>
          <p:cNvSpPr/>
          <p:nvPr/>
        </p:nvSpPr>
        <p:spPr>
          <a:xfrm>
            <a:off x="6967728" y="4965192"/>
            <a:ext cx="4663440" cy="868680"/>
          </a:xfrm>
          <a:prstGeom prst="rect">
            <a:avLst/>
          </a:prstGeom>
          <a:noFill/>
          <a:ln/>
        </p:spPr>
        <p:txBody>
          <a:bodyPr wrap="square" rtlCol="0" anchor="ctr"/>
          <a:lstStyle/>
          <a:p>
            <a:pPr marL="0" indent="0">
              <a:buNone/>
            </a:pPr>
            <a:r>
              <a:rPr lang="en-US" sz="1350" dirty="0">
                <a:solidFill>
                  <a:srgbClr val="26333D"/>
                </a:solidFill>
                <a:latin typeface="Times New Roman" pitchFamily="34" charset="0"/>
                <a:ea typeface="Times New Roman" pitchFamily="34" charset="-122"/>
                <a:cs typeface="Times New Roman" pitchFamily="34" charset="-120"/>
              </a:rPr>
              <a:t>Déploiement sur l'environnement de recette de l'UFR SI</a:t>
            </a:r>
            <a:endParaRPr lang="en-US" sz="1350" dirty="0"/>
          </a:p>
        </p:txBody>
      </p:sp>
      <p:sp>
        <p:nvSpPr>
          <p:cNvPr id="21" name="Text 19"/>
          <p:cNvSpPr/>
          <p:nvPr/>
        </p:nvSpPr>
        <p:spPr>
          <a:xfrm>
            <a:off x="457200" y="6528816"/>
            <a:ext cx="7772400" cy="274320"/>
          </a:xfrm>
          <a:prstGeom prst="rect">
            <a:avLst/>
          </a:prstGeom>
          <a:noFill/>
          <a:ln/>
        </p:spPr>
        <p:txBody>
          <a:bodyPr wrap="square" rtlCol="0" anchor="ctr"/>
          <a:lstStyle/>
          <a:p>
            <a:pPr marL="0" indent="0" algn="l">
              <a:buNone/>
            </a:pPr>
            <a:r>
              <a:rPr lang="en-US" sz="1000" dirty="0">
                <a:solidFill>
                  <a:srgbClr val="5C7480"/>
                </a:solidFill>
                <a:latin typeface="Times New Roman" pitchFamily="34" charset="0"/>
                <a:ea typeface="Times New Roman" pitchFamily="34" charset="-122"/>
                <a:cs typeface="Times New Roman" pitchFamily="34" charset="-120"/>
              </a:rPr>
              <a:t>SIGMAE — Cahier de spécification technique · Modélisation UML</a:t>
            </a:r>
            <a:endParaRPr lang="en-US" sz="1000" dirty="0"/>
          </a:p>
        </p:txBody>
      </p:sp>
      <p:sp>
        <p:nvSpPr>
          <p:cNvPr id="22" name="Text 20"/>
          <p:cNvSpPr/>
          <p:nvPr/>
        </p:nvSpPr>
        <p:spPr>
          <a:xfrm>
            <a:off x="10241280" y="6537780"/>
            <a:ext cx="1490472" cy="274320"/>
          </a:xfrm>
          <a:prstGeom prst="rect">
            <a:avLst/>
          </a:prstGeom>
          <a:noFill/>
          <a:ln/>
        </p:spPr>
        <p:txBody>
          <a:bodyPr wrap="square" rtlCol="0" anchor="ctr"/>
          <a:lstStyle/>
          <a:p>
            <a:pPr marL="0" indent="0" algn="r">
              <a:buNone/>
            </a:pPr>
            <a:r>
              <a:rPr lang="en-US" sz="1000" dirty="0">
                <a:solidFill>
                  <a:srgbClr val="5C7480"/>
                </a:solidFill>
                <a:latin typeface="Times New Roman" pitchFamily="34" charset="0"/>
                <a:ea typeface="Times New Roman" pitchFamily="34" charset="-122"/>
                <a:cs typeface="Times New Roman"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9">
    <p:bg>
      <p:bgPr>
        <a:solidFill>
          <a:srgbClr val="0B4F6C"/>
        </a:solidFill>
        <a:effectLst/>
      </p:bgPr>
    </p:bg>
    <p:spTree>
      <p:nvGrpSpPr>
        <p:cNvPr id="1" name=""/>
        <p:cNvGrpSpPr/>
        <p:nvPr/>
      </p:nvGrpSpPr>
      <p:grpSpPr>
        <a:xfrm>
          <a:off x="0" y="0"/>
          <a:ext cx="0" cy="0"/>
          <a:chOff x="0" y="0"/>
          <a:chExt cx="0" cy="0"/>
        </a:xfrm>
      </p:grpSpPr>
      <p:sp>
        <p:nvSpPr>
          <p:cNvPr id="2" name="Shape 0"/>
          <p:cNvSpPr/>
          <p:nvPr/>
        </p:nvSpPr>
        <p:spPr>
          <a:xfrm>
            <a:off x="10881360" y="502920"/>
            <a:ext cx="640080" cy="365760"/>
          </a:xfrm>
          <a:prstGeom prst="line">
            <a:avLst/>
          </a:prstGeom>
          <a:noFill/>
          <a:ln w="12700">
            <a:solidFill>
              <a:srgbClr val="BFE0EA">
                <a:alpha val="55000"/>
              </a:srgbClr>
            </a:solidFill>
            <a:prstDash val="solid"/>
          </a:ln>
        </p:spPr>
      </p:sp>
      <p:sp>
        <p:nvSpPr>
          <p:cNvPr id="3" name="Shape 1"/>
          <p:cNvSpPr/>
          <p:nvPr/>
        </p:nvSpPr>
        <p:spPr>
          <a:xfrm flipH="1">
            <a:off x="11109960" y="868680"/>
            <a:ext cx="411480" cy="502920"/>
          </a:xfrm>
          <a:prstGeom prst="line">
            <a:avLst/>
          </a:prstGeom>
          <a:noFill/>
          <a:ln w="12700">
            <a:solidFill>
              <a:srgbClr val="BFE0EA">
                <a:alpha val="55000"/>
              </a:srgbClr>
            </a:solidFill>
            <a:prstDash val="solid"/>
          </a:ln>
        </p:spPr>
      </p:sp>
      <p:sp>
        <p:nvSpPr>
          <p:cNvPr id="4" name="Shape 2"/>
          <p:cNvSpPr/>
          <p:nvPr/>
        </p:nvSpPr>
        <p:spPr>
          <a:xfrm>
            <a:off x="11109960" y="1371600"/>
            <a:ext cx="685800" cy="228600"/>
          </a:xfrm>
          <a:prstGeom prst="line">
            <a:avLst/>
          </a:prstGeom>
          <a:noFill/>
          <a:ln w="12700">
            <a:solidFill>
              <a:srgbClr val="BFE0EA">
                <a:alpha val="55000"/>
              </a:srgbClr>
            </a:solidFill>
            <a:prstDash val="solid"/>
          </a:ln>
        </p:spPr>
      </p:sp>
      <p:sp>
        <p:nvSpPr>
          <p:cNvPr id="5" name="Shape 3"/>
          <p:cNvSpPr/>
          <p:nvPr/>
        </p:nvSpPr>
        <p:spPr>
          <a:xfrm>
            <a:off x="11109960" y="1371600"/>
            <a:ext cx="137160" cy="777240"/>
          </a:xfrm>
          <a:prstGeom prst="line">
            <a:avLst/>
          </a:prstGeom>
          <a:noFill/>
          <a:ln w="12700">
            <a:solidFill>
              <a:srgbClr val="BFE0EA">
                <a:alpha val="55000"/>
              </a:srgbClr>
            </a:solidFill>
            <a:prstDash val="solid"/>
          </a:ln>
        </p:spPr>
      </p:sp>
      <p:sp>
        <p:nvSpPr>
          <p:cNvPr id="6" name="Shape 4"/>
          <p:cNvSpPr/>
          <p:nvPr/>
        </p:nvSpPr>
        <p:spPr>
          <a:xfrm>
            <a:off x="11247120" y="2148840"/>
            <a:ext cx="731520" cy="274320"/>
          </a:xfrm>
          <a:prstGeom prst="line">
            <a:avLst/>
          </a:prstGeom>
          <a:noFill/>
          <a:ln w="12700">
            <a:solidFill>
              <a:srgbClr val="BFE0EA">
                <a:alpha val="55000"/>
              </a:srgbClr>
            </a:solidFill>
            <a:prstDash val="solid"/>
          </a:ln>
        </p:spPr>
      </p:sp>
      <p:sp>
        <p:nvSpPr>
          <p:cNvPr id="7" name="Shape 5"/>
          <p:cNvSpPr/>
          <p:nvPr/>
        </p:nvSpPr>
        <p:spPr>
          <a:xfrm flipH="1">
            <a:off x="10698480" y="502920"/>
            <a:ext cx="182880" cy="1417320"/>
          </a:xfrm>
          <a:prstGeom prst="line">
            <a:avLst/>
          </a:prstGeom>
          <a:noFill/>
          <a:ln w="12700">
            <a:solidFill>
              <a:srgbClr val="BFE0EA">
                <a:alpha val="55000"/>
              </a:srgbClr>
            </a:solidFill>
            <a:prstDash val="solid"/>
          </a:ln>
        </p:spPr>
      </p:sp>
      <p:sp>
        <p:nvSpPr>
          <p:cNvPr id="8" name="Shape 6"/>
          <p:cNvSpPr/>
          <p:nvPr/>
        </p:nvSpPr>
        <p:spPr>
          <a:xfrm flipV="1">
            <a:off x="10698480" y="1371600"/>
            <a:ext cx="411480" cy="548640"/>
          </a:xfrm>
          <a:prstGeom prst="line">
            <a:avLst/>
          </a:prstGeom>
          <a:noFill/>
          <a:ln w="12700">
            <a:solidFill>
              <a:srgbClr val="BFE0EA">
                <a:alpha val="55000"/>
              </a:srgbClr>
            </a:solidFill>
            <a:prstDash val="solid"/>
          </a:ln>
        </p:spPr>
      </p:sp>
      <p:sp>
        <p:nvSpPr>
          <p:cNvPr id="9" name="Shape 7"/>
          <p:cNvSpPr/>
          <p:nvPr/>
        </p:nvSpPr>
        <p:spPr>
          <a:xfrm>
            <a:off x="10835640" y="457200"/>
            <a:ext cx="91440" cy="91440"/>
          </a:xfrm>
          <a:prstGeom prst="ellipse">
            <a:avLst/>
          </a:prstGeom>
          <a:solidFill>
            <a:srgbClr val="D98E32"/>
          </a:solidFill>
          <a:ln/>
        </p:spPr>
      </p:sp>
      <p:sp>
        <p:nvSpPr>
          <p:cNvPr id="10" name="Shape 8"/>
          <p:cNvSpPr/>
          <p:nvPr/>
        </p:nvSpPr>
        <p:spPr>
          <a:xfrm>
            <a:off x="11489436" y="836676"/>
            <a:ext cx="64008" cy="64008"/>
          </a:xfrm>
          <a:prstGeom prst="ellipse">
            <a:avLst/>
          </a:prstGeom>
          <a:solidFill>
            <a:srgbClr val="BFE0EA">
              <a:alpha val="45000"/>
            </a:srgbClr>
          </a:solidFill>
          <a:ln/>
        </p:spPr>
      </p:sp>
      <p:sp>
        <p:nvSpPr>
          <p:cNvPr id="11" name="Shape 9"/>
          <p:cNvSpPr/>
          <p:nvPr/>
        </p:nvSpPr>
        <p:spPr>
          <a:xfrm>
            <a:off x="11068812" y="1330452"/>
            <a:ext cx="82296" cy="82296"/>
          </a:xfrm>
          <a:prstGeom prst="ellipse">
            <a:avLst/>
          </a:prstGeom>
          <a:solidFill>
            <a:srgbClr val="D98E32"/>
          </a:solidFill>
          <a:ln/>
        </p:spPr>
      </p:sp>
      <p:sp>
        <p:nvSpPr>
          <p:cNvPr id="12" name="Shape 10"/>
          <p:cNvSpPr/>
          <p:nvPr/>
        </p:nvSpPr>
        <p:spPr>
          <a:xfrm>
            <a:off x="11768328" y="1572768"/>
            <a:ext cx="54864" cy="54864"/>
          </a:xfrm>
          <a:prstGeom prst="ellipse">
            <a:avLst/>
          </a:prstGeom>
          <a:solidFill>
            <a:srgbClr val="BFE0EA">
              <a:alpha val="45000"/>
            </a:srgbClr>
          </a:solidFill>
          <a:ln/>
        </p:spPr>
      </p:sp>
      <p:sp>
        <p:nvSpPr>
          <p:cNvPr id="13" name="Shape 11"/>
          <p:cNvSpPr/>
          <p:nvPr/>
        </p:nvSpPr>
        <p:spPr>
          <a:xfrm>
            <a:off x="11210544" y="2112264"/>
            <a:ext cx="73152" cy="73152"/>
          </a:xfrm>
          <a:prstGeom prst="ellipse">
            <a:avLst/>
          </a:prstGeom>
          <a:solidFill>
            <a:srgbClr val="BFE0EA">
              <a:alpha val="45000"/>
            </a:srgbClr>
          </a:solidFill>
          <a:ln/>
        </p:spPr>
      </p:sp>
      <p:sp>
        <p:nvSpPr>
          <p:cNvPr id="14" name="Shape 12"/>
          <p:cNvSpPr/>
          <p:nvPr/>
        </p:nvSpPr>
        <p:spPr>
          <a:xfrm>
            <a:off x="11946636" y="2391156"/>
            <a:ext cx="64008" cy="64008"/>
          </a:xfrm>
          <a:prstGeom prst="ellipse">
            <a:avLst/>
          </a:prstGeom>
          <a:solidFill>
            <a:srgbClr val="D98E32"/>
          </a:solidFill>
          <a:ln/>
        </p:spPr>
      </p:sp>
      <p:sp>
        <p:nvSpPr>
          <p:cNvPr id="15" name="Shape 13"/>
          <p:cNvSpPr/>
          <p:nvPr/>
        </p:nvSpPr>
        <p:spPr>
          <a:xfrm>
            <a:off x="10671048" y="1892808"/>
            <a:ext cx="54864" cy="54864"/>
          </a:xfrm>
          <a:prstGeom prst="ellipse">
            <a:avLst/>
          </a:prstGeom>
          <a:solidFill>
            <a:srgbClr val="BFE0EA">
              <a:alpha val="45000"/>
            </a:srgbClr>
          </a:solidFill>
          <a:ln/>
        </p:spPr>
      </p:sp>
      <p:sp>
        <p:nvSpPr>
          <p:cNvPr id="16" name="Shape 14"/>
          <p:cNvSpPr/>
          <p:nvPr/>
        </p:nvSpPr>
        <p:spPr>
          <a:xfrm>
            <a:off x="502920" y="5806440"/>
            <a:ext cx="457200" cy="365760"/>
          </a:xfrm>
          <a:prstGeom prst="line">
            <a:avLst/>
          </a:prstGeom>
          <a:noFill/>
          <a:ln w="12700">
            <a:solidFill>
              <a:srgbClr val="BFE0EA">
                <a:alpha val="55000"/>
              </a:srgbClr>
            </a:solidFill>
            <a:prstDash val="solid"/>
          </a:ln>
        </p:spPr>
      </p:sp>
      <p:sp>
        <p:nvSpPr>
          <p:cNvPr id="17" name="Shape 15"/>
          <p:cNvSpPr/>
          <p:nvPr/>
        </p:nvSpPr>
        <p:spPr>
          <a:xfrm flipH="1">
            <a:off x="685800" y="6172200"/>
            <a:ext cx="274320" cy="320040"/>
          </a:xfrm>
          <a:prstGeom prst="line">
            <a:avLst/>
          </a:prstGeom>
          <a:noFill/>
          <a:ln w="12700">
            <a:solidFill>
              <a:srgbClr val="BFE0EA">
                <a:alpha val="55000"/>
              </a:srgbClr>
            </a:solidFill>
            <a:prstDash val="solid"/>
          </a:ln>
        </p:spPr>
      </p:sp>
      <p:sp>
        <p:nvSpPr>
          <p:cNvPr id="18" name="Shape 16"/>
          <p:cNvSpPr/>
          <p:nvPr/>
        </p:nvSpPr>
        <p:spPr>
          <a:xfrm>
            <a:off x="960120" y="6172200"/>
            <a:ext cx="274320" cy="457200"/>
          </a:xfrm>
          <a:prstGeom prst="line">
            <a:avLst/>
          </a:prstGeom>
          <a:noFill/>
          <a:ln w="12700">
            <a:solidFill>
              <a:srgbClr val="BFE0EA">
                <a:alpha val="55000"/>
              </a:srgbClr>
            </a:solidFill>
            <a:prstDash val="solid"/>
          </a:ln>
        </p:spPr>
      </p:sp>
      <p:sp>
        <p:nvSpPr>
          <p:cNvPr id="19" name="Shape 17"/>
          <p:cNvSpPr/>
          <p:nvPr/>
        </p:nvSpPr>
        <p:spPr>
          <a:xfrm>
            <a:off x="466344" y="5769864"/>
            <a:ext cx="73152" cy="73152"/>
          </a:xfrm>
          <a:prstGeom prst="ellipse">
            <a:avLst/>
          </a:prstGeom>
          <a:solidFill>
            <a:srgbClr val="D98E32"/>
          </a:solidFill>
          <a:ln/>
        </p:spPr>
      </p:sp>
      <p:sp>
        <p:nvSpPr>
          <p:cNvPr id="20" name="Shape 18"/>
          <p:cNvSpPr/>
          <p:nvPr/>
        </p:nvSpPr>
        <p:spPr>
          <a:xfrm>
            <a:off x="932688" y="6144768"/>
            <a:ext cx="54864" cy="54864"/>
          </a:xfrm>
          <a:prstGeom prst="ellipse">
            <a:avLst/>
          </a:prstGeom>
          <a:solidFill>
            <a:srgbClr val="BFE0EA">
              <a:alpha val="45000"/>
            </a:srgbClr>
          </a:solidFill>
          <a:ln/>
        </p:spPr>
      </p:sp>
      <p:sp>
        <p:nvSpPr>
          <p:cNvPr id="21" name="Shape 19"/>
          <p:cNvSpPr/>
          <p:nvPr/>
        </p:nvSpPr>
        <p:spPr>
          <a:xfrm>
            <a:off x="653796" y="6460236"/>
            <a:ext cx="64008" cy="64008"/>
          </a:xfrm>
          <a:prstGeom prst="ellipse">
            <a:avLst/>
          </a:prstGeom>
          <a:solidFill>
            <a:srgbClr val="BFE0EA">
              <a:alpha val="45000"/>
            </a:srgbClr>
          </a:solidFill>
          <a:ln/>
        </p:spPr>
      </p:sp>
      <p:sp>
        <p:nvSpPr>
          <p:cNvPr id="22" name="Shape 20"/>
          <p:cNvSpPr/>
          <p:nvPr/>
        </p:nvSpPr>
        <p:spPr>
          <a:xfrm>
            <a:off x="1207008" y="6601968"/>
            <a:ext cx="54864" cy="54864"/>
          </a:xfrm>
          <a:prstGeom prst="ellipse">
            <a:avLst/>
          </a:prstGeom>
          <a:solidFill>
            <a:srgbClr val="D98E32"/>
          </a:solidFill>
          <a:ln/>
        </p:spPr>
      </p:sp>
      <p:sp>
        <p:nvSpPr>
          <p:cNvPr id="23" name="Shape 21"/>
          <p:cNvSpPr/>
          <p:nvPr/>
        </p:nvSpPr>
        <p:spPr>
          <a:xfrm>
            <a:off x="5711952" y="2312894"/>
            <a:ext cx="384048" cy="213450"/>
          </a:xfrm>
          <a:prstGeom prst="hexagon">
            <a:avLst/>
          </a:prstGeom>
          <a:solidFill>
            <a:srgbClr val="D98E32"/>
          </a:solidFill>
          <a:ln/>
        </p:spPr>
      </p:sp>
      <p:sp>
        <p:nvSpPr>
          <p:cNvPr id="24" name="Text 22"/>
          <p:cNvSpPr/>
          <p:nvPr/>
        </p:nvSpPr>
        <p:spPr>
          <a:xfrm>
            <a:off x="822960" y="2743200"/>
            <a:ext cx="10515600" cy="914400"/>
          </a:xfrm>
          <a:prstGeom prst="rect">
            <a:avLst/>
          </a:prstGeom>
          <a:noFill/>
          <a:ln/>
        </p:spPr>
        <p:txBody>
          <a:bodyPr wrap="square" rtlCol="0" anchor="ctr"/>
          <a:lstStyle/>
          <a:p>
            <a:pPr marL="0" indent="0" algn="ctr">
              <a:buNone/>
            </a:pPr>
            <a:r>
              <a:rPr lang="en-US" sz="4400" b="1" dirty="0">
                <a:solidFill>
                  <a:srgbClr val="FFFFFF"/>
                </a:solidFill>
                <a:latin typeface="Times New Roman" pitchFamily="34" charset="0"/>
                <a:ea typeface="Times New Roman" pitchFamily="34" charset="-122"/>
                <a:cs typeface="Times New Roman" pitchFamily="34" charset="-120"/>
              </a:rPr>
              <a:t>Merci de votre attention</a:t>
            </a:r>
            <a:endParaRPr lang="en-US" sz="4400" dirty="0"/>
          </a:p>
        </p:txBody>
      </p:sp>
      <p:sp>
        <p:nvSpPr>
          <p:cNvPr id="25" name="Text 23"/>
          <p:cNvSpPr/>
          <p:nvPr/>
        </p:nvSpPr>
        <p:spPr>
          <a:xfrm>
            <a:off x="822960" y="3639312"/>
            <a:ext cx="10515600" cy="548640"/>
          </a:xfrm>
          <a:prstGeom prst="rect">
            <a:avLst/>
          </a:prstGeom>
          <a:noFill/>
          <a:ln/>
        </p:spPr>
        <p:txBody>
          <a:bodyPr wrap="square" rtlCol="0" anchor="ctr"/>
          <a:lstStyle/>
          <a:p>
            <a:pPr marL="0" indent="0" algn="ctr">
              <a:buNone/>
            </a:pPr>
            <a:r>
              <a:rPr lang="en-US" sz="2000" i="1" dirty="0">
                <a:solidFill>
                  <a:srgbClr val="BFE0EA"/>
                </a:solidFill>
                <a:latin typeface="Times New Roman" pitchFamily="34" charset="0"/>
                <a:ea typeface="Times New Roman" pitchFamily="34" charset="-122"/>
                <a:cs typeface="Times New Roman" pitchFamily="34" charset="-120"/>
              </a:rPr>
              <a:t>Questions ?</a:t>
            </a:r>
            <a:endParaRPr lang="en-US" sz="2000" dirty="0"/>
          </a:p>
        </p:txBody>
      </p:sp>
      <p:sp>
        <p:nvSpPr>
          <p:cNvPr id="26" name="Text 24"/>
          <p:cNvSpPr/>
          <p:nvPr/>
        </p:nvSpPr>
        <p:spPr>
          <a:xfrm>
            <a:off x="822960" y="6080760"/>
            <a:ext cx="10515600" cy="365760"/>
          </a:xfrm>
          <a:prstGeom prst="rect">
            <a:avLst/>
          </a:prstGeom>
          <a:noFill/>
          <a:ln/>
        </p:spPr>
        <p:txBody>
          <a:bodyPr wrap="square" rtlCol="0" anchor="ctr"/>
          <a:lstStyle/>
          <a:p>
            <a:pPr marL="0" indent="0" algn="ctr">
              <a:buNone/>
            </a:pPr>
            <a:r>
              <a:rPr lang="en-US" sz="1250" dirty="0">
                <a:solidFill>
                  <a:srgbClr val="BFE0EA"/>
                </a:solidFill>
                <a:latin typeface="Times New Roman" pitchFamily="34" charset="0"/>
                <a:ea typeface="Times New Roman" pitchFamily="34" charset="-122"/>
                <a:cs typeface="Times New Roman" pitchFamily="34" charset="-120"/>
              </a:rPr>
              <a:t>SIGMAE — Système Intégré de Gestion des Marchés et Approvisionnements en Équipements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374</TotalTime>
  <Words>1560</Words>
  <Application>Microsoft Office PowerPoint</Application>
  <PresentationFormat>Grand écran</PresentationFormat>
  <Paragraphs>190</Paragraphs>
  <Slides>15</Slides>
  <Notes>15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Arial</vt:lpstr>
      <vt:lpstr>Calibri</vt:lpstr>
      <vt:lpstr>Times New Roman</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Fatou CAMARA</cp:lastModifiedBy>
  <cp:revision>32</cp:revision>
  <dcterms:created xsi:type="dcterms:W3CDTF">2026-07-21T14:03:55Z</dcterms:created>
  <dcterms:modified xsi:type="dcterms:W3CDTF">2026-08-12T19:00:29Z</dcterms:modified>
</cp:coreProperties>
</file>