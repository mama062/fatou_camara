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0178" autoAdjust="0"/>
  </p:normalViewPr>
  <p:slideViewPr>
    <p:cSldViewPr snapToGrid="0" snapToObjects="1">
      <p:cViewPr varScale="1">
        <p:scale>
          <a:sx n="51" d="100"/>
          <a:sy n="51" d="100"/>
        </p:scale>
        <p:origin x="187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7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283176"/>
          </a:solidFill>
        </p:spPr>
      </p:sp>
      <p:sp>
        <p:nvSpPr>
          <p:cNvPr id="4" name="Shape 2"/>
          <p:cNvSpPr/>
          <p:nvPr/>
        </p:nvSpPr>
        <p:spPr>
          <a:xfrm>
            <a:off x="10881360" y="-548640"/>
            <a:ext cx="2377440" cy="2377440"/>
          </a:xfrm>
          <a:prstGeom prst="ellipse">
            <a:avLst/>
          </a:prstGeom>
          <a:solidFill>
            <a:srgbClr val="323C86"/>
          </a:solidFill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EPT — MILIA — BIG DATA 2025-2026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144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WaveGuard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Système de Détection de Fraude Mobile Money en Temps Réel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0" cy="822960"/>
          </a:xfrm>
          <a:prstGeom prst="line">
            <a:avLst/>
          </a:prstGeom>
          <a:noFill/>
          <a:ln w="19050">
            <a:solidFill>
              <a:srgbClr val="4A5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80060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Fatou CAMARA</a:t>
            </a:r>
            <a:r>
              <a:rPr lang="fr-FR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&amp; Moussa M. NDOUR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1 — Ingénierie Logicielle et Intelligence Artificielle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Encadrant : Prof. Ibrahima GUEYE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DE44CE4B-AB38-44FB-BDAA-393C234A37EB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DA56A82-9558-4DAD-8FCD-6FBE61C7F780}"/>
              </a:ext>
            </a:extLst>
          </p:cNvPr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DE4B3FD-0A71-4EE1-954D-A34F8E085483}"/>
              </a:ext>
            </a:extLst>
          </p:cNvPr>
          <p:cNvSpPr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</a:t>
            </a:r>
            <a:endParaRPr lang="en-US" sz="11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D2B0DA1-673D-43DD-A997-371E52F7CF40}"/>
              </a:ext>
            </a:extLst>
          </p:cNvPr>
          <p:cNvSpPr/>
          <p:nvPr/>
        </p:nvSpPr>
        <p:spPr>
          <a:xfrm>
            <a:off x="1143000" y="6217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 du projet</a:t>
            </a:r>
            <a:endParaRPr lang="en-US" sz="24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9C9DF988-6550-4FC8-9799-74DF1C44BB4D}"/>
              </a:ext>
            </a:extLst>
          </p:cNvPr>
          <p:cNvSpPr/>
          <p:nvPr/>
        </p:nvSpPr>
        <p:spPr>
          <a:xfrm>
            <a:off x="777240" y="1371600"/>
            <a:ext cx="63093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C1FA098-C205-49B8-B6FA-2D4783D8DFAE}"/>
              </a:ext>
            </a:extLst>
          </p:cNvPr>
          <p:cNvSpPr/>
          <p:nvPr/>
        </p:nvSpPr>
        <p:spPr>
          <a:xfrm>
            <a:off x="1051560" y="1600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du projet</a:t>
            </a:r>
            <a:endParaRPr lang="en-US" sz="16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BFEB105-E5FD-48F7-A24D-065B12F32289}"/>
              </a:ext>
            </a:extLst>
          </p:cNvPr>
          <p:cNvSpPr/>
          <p:nvPr/>
        </p:nvSpPr>
        <p:spPr>
          <a:xfrm>
            <a:off x="1051560" y="201168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complet de détection de fraude Mobile Money en temps </a:t>
            </a:r>
            <a:r>
              <a:rPr lang="en-US" sz="16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3E5BC9EB-8B41-478A-84FC-67704B46AEA6}"/>
              </a:ext>
            </a:extLst>
          </p:cNvPr>
          <p:cNvSpPr/>
          <p:nvPr/>
        </p:nvSpPr>
        <p:spPr>
          <a:xfrm>
            <a:off x="1051560" y="278892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pour l'ingestion des transactions en flux continu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pour la détection par fenêtres glissantes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de monitoring Grafana pour la supervision et l'alerting</a:t>
            </a:r>
            <a:endParaRPr lang="en-US" sz="16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E02AAD2D-9269-4795-9977-513A3A8751A4}"/>
              </a:ext>
            </a:extLst>
          </p:cNvPr>
          <p:cNvSpPr/>
          <p:nvPr/>
        </p:nvSpPr>
        <p:spPr>
          <a:xfrm>
            <a:off x="7406640" y="1371600"/>
            <a:ext cx="4251960" cy="4892040"/>
          </a:xfrm>
          <a:prstGeom prst="rect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B2430">
                <a:alpha val="20000"/>
              </a:srgbClr>
            </a:outerShdw>
          </a:effectLst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617DA14-1811-4447-AD91-9F7EB7087D9F}"/>
              </a:ext>
            </a:extLst>
          </p:cNvPr>
          <p:cNvSpPr/>
          <p:nvPr/>
        </p:nvSpPr>
        <p:spPr>
          <a:xfrm>
            <a:off x="7680960" y="15727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en un coup d'œil</a:t>
            </a:r>
            <a:endParaRPr lang="en-US" sz="14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6E1B5555-82FF-46EC-988D-D84C58463FBB}"/>
              </a:ext>
            </a:extLst>
          </p:cNvPr>
          <p:cNvSpPr/>
          <p:nvPr/>
        </p:nvSpPr>
        <p:spPr>
          <a:xfrm>
            <a:off x="7680960" y="2148840"/>
            <a:ext cx="3703320" cy="658368"/>
          </a:xfrm>
          <a:prstGeom prst="rect">
            <a:avLst/>
          </a:prstGeom>
          <a:solidFill>
            <a:srgbClr val="13294B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4EA9C428-9656-4A01-A747-98D29F4CA566}"/>
              </a:ext>
            </a:extLst>
          </p:cNvPr>
          <p:cNvSpPr/>
          <p:nvPr/>
        </p:nvSpPr>
        <p:spPr>
          <a:xfrm>
            <a:off x="7863840" y="22037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25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A2BF9AB-70CD-462B-BBA9-5AA09D5C3E86}"/>
              </a:ext>
            </a:extLst>
          </p:cNvPr>
          <p:cNvSpPr/>
          <p:nvPr/>
        </p:nvSpPr>
        <p:spPr>
          <a:xfrm>
            <a:off x="7863840" y="24780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— 3 topics</a:t>
            </a:r>
            <a:endParaRPr lang="en-US" sz="10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4BA7DC26-2ED1-42BE-98E6-681CD6E3F990}"/>
              </a:ext>
            </a:extLst>
          </p:cNvPr>
          <p:cNvSpPr/>
          <p:nvPr/>
        </p:nvSpPr>
        <p:spPr>
          <a:xfrm>
            <a:off x="9395460" y="28072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F1876C0E-8EF2-4EF1-AEBA-35B16BCC62B5}"/>
              </a:ext>
            </a:extLst>
          </p:cNvPr>
          <p:cNvSpPr/>
          <p:nvPr/>
        </p:nvSpPr>
        <p:spPr>
          <a:xfrm>
            <a:off x="7680960" y="3063240"/>
            <a:ext cx="3703320" cy="658368"/>
          </a:xfrm>
          <a:prstGeom prst="rect">
            <a:avLst/>
          </a:prstGeom>
          <a:solidFill>
            <a:srgbClr val="13294B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85C10BF9-94B0-4F90-A8F6-D7EBBA4BDD57}"/>
              </a:ext>
            </a:extLst>
          </p:cNvPr>
          <p:cNvSpPr/>
          <p:nvPr/>
        </p:nvSpPr>
        <p:spPr>
          <a:xfrm>
            <a:off x="7863840" y="31181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Streaming</a:t>
            </a:r>
            <a:endParaRPr lang="en-US" sz="125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B19DA7C8-0941-4596-9D38-8A5132F7656A}"/>
              </a:ext>
            </a:extLst>
          </p:cNvPr>
          <p:cNvSpPr/>
          <p:nvPr/>
        </p:nvSpPr>
        <p:spPr>
          <a:xfrm>
            <a:off x="7863840" y="33924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— vélocité &amp; volume</a:t>
            </a:r>
            <a:endParaRPr lang="en-US" sz="100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C2E795BF-DD4F-439F-98AE-CD88A232EE61}"/>
              </a:ext>
            </a:extLst>
          </p:cNvPr>
          <p:cNvSpPr/>
          <p:nvPr/>
        </p:nvSpPr>
        <p:spPr>
          <a:xfrm>
            <a:off x="9395460" y="37216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F7AAE362-09F7-4109-B201-9418166D1B2A}"/>
              </a:ext>
            </a:extLst>
          </p:cNvPr>
          <p:cNvSpPr/>
          <p:nvPr/>
        </p:nvSpPr>
        <p:spPr>
          <a:xfrm>
            <a:off x="7680960" y="3977640"/>
            <a:ext cx="3703320" cy="658368"/>
          </a:xfrm>
          <a:prstGeom prst="rect">
            <a:avLst/>
          </a:prstGeom>
          <a:solidFill>
            <a:srgbClr val="13294B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CA2A3FB2-4BE0-4E48-B831-7641A0FC2D52}"/>
              </a:ext>
            </a:extLst>
          </p:cNvPr>
          <p:cNvSpPr/>
          <p:nvPr/>
        </p:nvSpPr>
        <p:spPr>
          <a:xfrm>
            <a:off x="7863840" y="40325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+ Parquet</a:t>
            </a:r>
            <a:endParaRPr lang="en-US" sz="12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38180491-774B-4551-BAFC-2DAF20AC5503}"/>
              </a:ext>
            </a:extLst>
          </p:cNvPr>
          <p:cNvSpPr/>
          <p:nvPr/>
        </p:nvSpPr>
        <p:spPr>
          <a:xfrm>
            <a:off x="7863840" y="4306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 — alertes &amp; data lake</a:t>
            </a:r>
            <a:endParaRPr lang="en-US" sz="1000" dirty="0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9162E458-466A-4679-A86D-8FB0CA9E0E52}"/>
              </a:ext>
            </a:extLst>
          </p:cNvPr>
          <p:cNvSpPr/>
          <p:nvPr/>
        </p:nvSpPr>
        <p:spPr>
          <a:xfrm>
            <a:off x="9395460" y="46360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4907136C-4F8C-4965-8386-A31B5C217EB7}"/>
              </a:ext>
            </a:extLst>
          </p:cNvPr>
          <p:cNvSpPr/>
          <p:nvPr/>
        </p:nvSpPr>
        <p:spPr>
          <a:xfrm>
            <a:off x="7680960" y="4892040"/>
            <a:ext cx="3703320" cy="658368"/>
          </a:xfrm>
          <a:prstGeom prst="rect">
            <a:avLst/>
          </a:prstGeom>
          <a:solidFill>
            <a:srgbClr val="13294B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B2E7130B-2397-43D3-9FA7-5CDBC7E9014C}"/>
              </a:ext>
            </a:extLst>
          </p:cNvPr>
          <p:cNvSpPr/>
          <p:nvPr/>
        </p:nvSpPr>
        <p:spPr>
          <a:xfrm>
            <a:off x="7863840" y="49469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250" dirty="0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1E5D267B-D7CE-4E24-9656-2EE00EEDE7A9}"/>
              </a:ext>
            </a:extLst>
          </p:cNvPr>
          <p:cNvSpPr/>
          <p:nvPr/>
        </p:nvSpPr>
        <p:spPr>
          <a:xfrm>
            <a:off x="7863840" y="52212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dashboard &amp; alerte</a:t>
            </a:r>
            <a:endParaRPr lang="en-US" sz="1000" dirty="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C8CCA8A4-85A1-402E-BF32-512E400305C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WaveGuard — Détection de fraude Mobile Money en temps réel</a:t>
            </a:r>
            <a:endParaRPr lang="en-US" sz="900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A2A4716D-0757-496B-892C-E18B80983E9B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Deux profils de fraude à détecter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7" name="Text 5"/>
          <p:cNvSpPr/>
          <p:nvPr/>
        </p:nvSpPr>
        <p:spPr>
          <a:xfrm>
            <a:off x="960120" y="2240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&gt;5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48840" y="23317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Fraude par vélocité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48840" y="278892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Plus de 5 transactions depuis un même compte en moins de 5 minutes.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466344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404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Fenêtre glissante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min / pas 1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 : rafale rapide de petites opérations (ex. 8 tx en 50 ms).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2240280"/>
            <a:ext cx="914400" cy="9144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6675120" y="2240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500K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0" y="23317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Fraude par volume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863840" y="278892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Montant total supérieur à 500 000 FCFA depuis un même compte en 10 minutes.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3703320"/>
            <a:ext cx="466344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8404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Fenêtre glissante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min / pas 2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489204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 : quelques grosses opérations qui vident un compte.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Objectifs de détection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4288" y="3419856"/>
            <a:ext cx="374904" cy="201168"/>
          </a:xfrm>
          <a:prstGeom prst="rightArrow">
            <a:avLst/>
          </a:prstGeom>
          <a:solidFill>
            <a:srgbClr val="5C6270"/>
          </a:solidFill>
        </p:spPr>
      </p:sp>
      <p:sp>
        <p:nvSpPr>
          <p:cNvPr id="9" name="Shape 7"/>
          <p:cNvSpPr/>
          <p:nvPr/>
        </p:nvSpPr>
        <p:spPr>
          <a:xfrm>
            <a:off x="2697480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effectLst>
            <a:outerShdw blurRad="101600" dist="25400" dir="5400000" algn="bl" rotWithShape="0">
              <a:srgbClr val="1A1A2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309067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Kafka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354787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topics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98848" y="3419856"/>
            <a:ext cx="374904" cy="201168"/>
          </a:xfrm>
          <a:prstGeom prst="rightArrow">
            <a:avLst/>
          </a:prstGeom>
          <a:solidFill>
            <a:srgbClr val="5C6270"/>
          </a:solidFill>
        </p:spPr>
      </p:sp>
      <p:sp>
        <p:nvSpPr>
          <p:cNvPr id="13" name="Shape 11"/>
          <p:cNvSpPr/>
          <p:nvPr/>
        </p:nvSpPr>
        <p:spPr>
          <a:xfrm>
            <a:off x="489204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63946"/>
          </a:solidFill>
          <a:effectLst>
            <a:outerShdw blurRad="101600" dist="25400" dir="5400000" algn="bl" rotWithShape="0">
              <a:srgbClr val="1A1A2E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09067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Spark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547872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76288" y="3419856"/>
            <a:ext cx="374904" cy="201168"/>
          </a:xfrm>
          <a:prstGeom prst="rightArrow">
            <a:avLst/>
          </a:prstGeom>
          <a:solidFill>
            <a:srgbClr val="5C6270"/>
          </a:solidFill>
        </p:spPr>
      </p:sp>
      <p:sp>
        <p:nvSpPr>
          <p:cNvPr id="17" name="Shape 15"/>
          <p:cNvSpPr/>
          <p:nvPr/>
        </p:nvSpPr>
        <p:spPr>
          <a:xfrm>
            <a:off x="726948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effectLst>
            <a:outerShdw blurRad="101600" dist="25400" dir="5400000" algn="bl" rotWithShape="0">
              <a:srgbClr val="1A1A2E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309067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Sinks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3547872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+ Parquet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53728" y="3419856"/>
            <a:ext cx="374904" cy="201168"/>
          </a:xfrm>
          <a:prstGeom prst="rightArrow">
            <a:avLst/>
          </a:prstGeom>
          <a:solidFill>
            <a:srgbClr val="5C6270"/>
          </a:solidFill>
        </p:spPr>
      </p:sp>
      <p:sp>
        <p:nvSpPr>
          <p:cNvPr id="24" name="Text 22"/>
          <p:cNvSpPr/>
          <p:nvPr/>
        </p:nvSpPr>
        <p:spPr>
          <a:xfrm>
            <a:off x="548640" y="47091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= tapis roulant  ·  Spark = cerveau qui analyse en continu  ·  Grafana = yeux qui surveillent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860521"/>
            <a:ext cx="1051265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22960" y="5987848"/>
            <a:ext cx="1023833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Adaptation d’environnement : Spark tourne dans un notebook Jupyter (pas spark-submit) — connexion Kafka via kafka:29092 en interne, localhost:9092 depuis la machine hôte. Grafana a été ajouté manuellement au docker-compose.yml.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B1C9B565-4BF3-4295-9773-2E5A60DFA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67" y="515375"/>
            <a:ext cx="8496300" cy="5423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1 — INGESTION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Topics, partitions et ordre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flux principal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9202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251960" y="26974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fraud-alerts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06324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alertes détectées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7830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19202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955280" y="269748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audit-log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306324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traçabilité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Règle à retenir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Kafka garantit l’ordre des messages uniquement à l’intérieur d’une même partition — jamais sur le topic entier.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C’est pourquoi le producer utilise key=sender_id : toutes les transactions d’un même compte tombent dans la même partition, donc restent dans l’ordre.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1 — Kafka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1 — INGESTION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Producer enrichi : preuve du burst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48056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transactions 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rafale, espacées de 50 ms, sur un même compte fraudeur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is_flagged 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ajouté comme vérité-terrain pour valider la détection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Partitionnement vérifié 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8 messages tombent tous dans la même partition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0" y="1691640"/>
            <a:ext cx="6309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7" name="Image 0" descr="/home/claude/waveguard_pptx/fig4_bur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845" y="1783080"/>
            <a:ext cx="346215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605332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 delivery_report — rafale sur SN_0007, Partition=2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1 — Kafka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SPARK STRUCTURED STREAMING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Pourquoi une fenêtre glissante 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Tumbling window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600200" cy="502920"/>
          </a:xfrm>
          <a:prstGeom prst="rect">
            <a:avLst/>
          </a:prstGeom>
          <a:solidFill>
            <a:srgbClr val="E3E9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1992" y="2240280"/>
            <a:ext cx="1600200" cy="502920"/>
          </a:xfrm>
          <a:prstGeom prst="rect">
            <a:avLst/>
          </a:prstGeom>
          <a:solidFill>
            <a:srgbClr val="CADC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240280"/>
            <a:ext cx="1600200" cy="502920"/>
          </a:xfrm>
          <a:prstGeom prst="rect">
            <a:avLst/>
          </a:prstGeom>
          <a:solidFill>
            <a:srgbClr val="E3E9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burst à cheval sur deux fenêtres peut passer sous le seuil dans chacune.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Sliding window (utilisée ici)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63946">
              <a:alpha val="45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1188720" y="47091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63946"/>
          </a:solidFill>
        </p:spPr>
      </p:sp>
      <p:sp>
        <p:nvSpPr>
          <p:cNvPr id="13" name="Shape 11"/>
          <p:cNvSpPr/>
          <p:nvPr/>
        </p:nvSpPr>
        <p:spPr>
          <a:xfrm>
            <a:off x="1828800" y="50749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63946">
              <a:alpha val="4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548640" y="56235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fenêtres se chevauchent : un burst est toujours capturé en entier par au moins l’une d’elles.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 watermark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flux est infini : Spark doit décider quand une fenêtre est "close".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3337560"/>
            <a:ext cx="4846320" cy="0"/>
          </a:xfrm>
          <a:prstGeom prst="line">
            <a:avLst/>
          </a:prstGeom>
          <a:noFill/>
          <a:ln w="12700">
            <a:solidFill>
              <a:srgbClr val="3A45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52044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minutes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46520" y="42519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tolérance aux messages en retard avant qu’une fenêtre soit considérée définitive.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46520" y="53492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A9B7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Sans watermark, l’état grossirait indéfiniment en mémoire.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Spark Structured Streaming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SPARK STRUCTURED STREAMING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détection cible les bons comptes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6751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6" name="Image 0" descr="/home/claude/waveguard_pptx/fig8_volume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68126"/>
            <a:ext cx="6492240" cy="35447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33872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 de la Règle 2 (VOLUME_FRAUD)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178308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E63946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35240" y="2011680"/>
            <a:ext cx="3749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98,7M FCFA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635240" y="265176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cumulés par SN_0042 — compte fraudeur connu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06640" y="397764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35240" y="4206240"/>
            <a:ext cx="3749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~500-700K FCFA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635240" y="484632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 les comptes normaux — juste au-dessus du seuil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Spark Structured Streaming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SPARK STRUCTURED STREAMING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Deux sinks, deux usages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Kafka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394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outputMode('update')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Alerte le plus tôt possible, quitte à être mise à jour plusieurs fois avant confirmation finale.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 fraud-alerts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21031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Parquet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2560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394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outputMode('append')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301752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Écriture définitive une seule fois, quand le watermark garantit que la fenêtre ne changera plus.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53949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Lake — historique propre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182880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6" name="Image 0" descr="/home/claude/waveguard_pptx/fig11_parquet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827821"/>
            <a:ext cx="3657600" cy="101947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63840" y="4121619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Fichiers .parquet réellement écrits (velocity/ et volume/)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Spark Structured Streaming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3 — TOLÉRANCE AUX PANNES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Reprise exacte après un crash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offsets/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762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qui a été LU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731520" y="28803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880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commits/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2278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qui a été VALIDÉ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731520" y="3931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931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state/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2793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agrégations en cours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batch peut être lu sans encore être validé — c’est ce qui permet une reprise exacte, sans perte ni doublon.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94960" y="1783080"/>
            <a:ext cx="62636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9" name="Image 0" descr="/home/claude/waveguard_pptx/fig14_crash_recovery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2487174"/>
            <a:ext cx="6309360" cy="298093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94960" y="5532120"/>
            <a:ext cx="626364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</p:spPr>
      </p:sp>
      <p:sp>
        <p:nvSpPr>
          <p:cNvPr id="21" name="Text 18"/>
          <p:cNvSpPr/>
          <p:nvPr/>
        </p:nvSpPr>
        <p:spPr>
          <a:xfrm>
            <a:off x="5577840" y="5532120"/>
            <a:ext cx="5897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13 → 15 après redémarrage : jamais de retour à 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3 — Tolérance aux pannes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4 — MONITORING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871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 dashboard pour surveiller le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59224" y="1362456"/>
            <a:ext cx="9798423" cy="5038344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59893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panels Grafana : Alertes Vélocité, Alertes Volume, Top Fraudeur, Transactions/min — connectés via le plugin Infinity à un export JSON du notebook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4 — Monitoring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1E6EF38-5B14-4C74-9AED-13E219B1D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5" y="1190329"/>
            <a:ext cx="11953710" cy="53367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RETOUR D’EXPÉRIENCE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Adaptations &amp; difficultés rencontrées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91440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7" name="Text 5"/>
          <p:cNvSpPr/>
          <p:nvPr/>
        </p:nvSpPr>
        <p:spPr>
          <a:xfrm>
            <a:off x="914400" y="18288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Exécution Spark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7818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Notebook Jupyter au lieu de spark-submit → distinction critique kafka:29092 (interne) vs localhost:9092 (hôte)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548640" y="2907792"/>
            <a:ext cx="82296" cy="91440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11" name="Text 9"/>
          <p:cNvSpPr/>
          <p:nvPr/>
        </p:nvSpPr>
        <p:spPr>
          <a:xfrm>
            <a:off x="914400" y="2907792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907792"/>
            <a:ext cx="7818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absent du docker-compose.yml fourni → ajouté manuellement (image + plugin Infinity)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548640" y="3986784"/>
            <a:ext cx="82296" cy="91440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15" name="Text 13"/>
          <p:cNvSpPr/>
          <p:nvPr/>
        </p:nvSpPr>
        <p:spPr>
          <a:xfrm>
            <a:off x="914400" y="3986784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Versions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3986784"/>
            <a:ext cx="7818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Incompatibilité Spark 3.5.0 / connecteur Kafka 3.4.0 → échec silencieux du sink Kafka, corrigé en alignant les versions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65776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548640" y="5065776"/>
            <a:ext cx="82296" cy="91440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19" name="Text 17"/>
          <p:cNvSpPr/>
          <p:nvPr/>
        </p:nvSpPr>
        <p:spPr>
          <a:xfrm>
            <a:off x="914400" y="5065776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Requêtes streaming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29000" y="5065776"/>
            <a:ext cx="7818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Redémarrages répétés du kernel → requêtes fantômes et checkpoints corrompus, nécessitant des redémarrages propres et complets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Retour d’expérience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" y="0"/>
            <a:ext cx="12191695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83176"/>
          </a:solidFill>
        </p:spPr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80A0C516-096C-44DD-8BFC-58E5139CB1B3}"/>
              </a:ext>
            </a:extLst>
          </p:cNvPr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A583880-D81D-49F3-8CCE-C1499277248D}"/>
              </a:ext>
            </a:extLst>
          </p:cNvPr>
          <p:cNvSpPr/>
          <p:nvPr/>
        </p:nvSpPr>
        <p:spPr>
          <a:xfrm>
            <a:off x="7772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9DF8181-D613-456D-AFC9-06671EF7B40C}"/>
              </a:ext>
            </a:extLst>
          </p:cNvPr>
          <p:cNvSpPr/>
          <p:nvPr/>
        </p:nvSpPr>
        <p:spPr>
          <a:xfrm>
            <a:off x="822960" y="1188720"/>
            <a:ext cx="2011680" cy="4572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E780399-084B-44AD-9A27-50785E5ED66D}"/>
              </a:ext>
            </a:extLst>
          </p:cNvPr>
          <p:cNvSpPr/>
          <p:nvPr/>
        </p:nvSpPr>
        <p:spPr>
          <a:xfrm>
            <a:off x="822960" y="146304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WaveGuard a permis de construire, de bout en bout, un pipeline fonctionnel : ingestion Kafka partitionnée, détection par fenêtres glissantes validée sur données simulées, double sink Kafka/Parquet, tolérance aux pannes démontrée, et supervision via un dashboard Grafana à 4 panels avec alerte automatique.</a:t>
            </a:r>
            <a:endParaRPr lang="en-US" sz="13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25A9A41-66E9-4C1A-93A5-0774A1766A71}"/>
              </a:ext>
            </a:extLst>
          </p:cNvPr>
          <p:cNvSpPr/>
          <p:nvPr/>
        </p:nvSpPr>
        <p:spPr>
          <a:xfrm>
            <a:off x="822960" y="3291840"/>
            <a:ext cx="6035040" cy="2194560"/>
          </a:xfrm>
          <a:prstGeom prst="rect">
            <a:avLst/>
          </a:prstGeom>
          <a:solidFill>
            <a:srgbClr val="10294D"/>
          </a:solidFill>
          <a:ln w="12700">
            <a:solidFill>
              <a:srgbClr val="2C4570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D60E4E4-497B-473E-991A-5BBE5D3534CA}"/>
              </a:ext>
            </a:extLst>
          </p:cNvPr>
          <p:cNvSpPr/>
          <p:nvPr/>
        </p:nvSpPr>
        <p:spPr>
          <a:xfrm>
            <a:off x="1051560" y="345643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à retenir pour la production</a:t>
            </a:r>
            <a:endParaRPr lang="en-US" sz="135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42AD276-1DC2-413A-B676-36DA6E7A6255}"/>
              </a:ext>
            </a:extLst>
          </p:cNvPr>
          <p:cNvSpPr/>
          <p:nvPr/>
        </p:nvSpPr>
        <p:spPr>
          <a:xfrm>
            <a:off x="1051560" y="3794760"/>
            <a:ext cx="5577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brut (&gt; 5 tx/5 min ou &gt; 500 000 FCFA/10 min) capte occasionnellement des comptes légitimes ; les comptes fraudeurs connus se distinguent néanmoins nettement par l'ampleur de leurs métriques — la calibration sur trafic réel reste nécessaire avant déploiement.</a:t>
            </a:r>
            <a:endParaRPr lang="en-US" sz="11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E03BB6D-4223-4B95-A355-48B143978D9B}"/>
              </a:ext>
            </a:extLst>
          </p:cNvPr>
          <p:cNvSpPr/>
          <p:nvPr/>
        </p:nvSpPr>
        <p:spPr>
          <a:xfrm>
            <a:off x="726948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chiffré</a:t>
            </a:r>
            <a:endParaRPr lang="en-US" sz="15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57D259E-E088-4252-B53E-8670157C821F}"/>
              </a:ext>
            </a:extLst>
          </p:cNvPr>
          <p:cNvSpPr/>
          <p:nvPr/>
        </p:nvSpPr>
        <p:spPr>
          <a:xfrm>
            <a:off x="7269480" y="1920240"/>
            <a:ext cx="4114800" cy="7772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1CA691B-2F82-45BC-90BD-AAF93D23FA81}"/>
              </a:ext>
            </a:extLst>
          </p:cNvPr>
          <p:cNvSpPr/>
          <p:nvPr/>
        </p:nvSpPr>
        <p:spPr>
          <a:xfrm>
            <a:off x="7452360" y="19202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E1C7C5D-EDCD-4614-86E2-4E8493E32196}"/>
              </a:ext>
            </a:extLst>
          </p:cNvPr>
          <p:cNvSpPr/>
          <p:nvPr/>
        </p:nvSpPr>
        <p:spPr>
          <a:xfrm>
            <a:off x="8366760" y="19202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Kafka créés</a:t>
            </a:r>
            <a:endParaRPr lang="en-US" sz="115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AFA451A7-5EC7-410E-BBE4-3D19B06EFDDA}"/>
              </a:ext>
            </a:extLst>
          </p:cNvPr>
          <p:cNvSpPr/>
          <p:nvPr/>
        </p:nvSpPr>
        <p:spPr>
          <a:xfrm>
            <a:off x="7269480" y="2834640"/>
            <a:ext cx="4114800" cy="7772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2DF1AA7-2F52-4479-8408-0172BA4D5E7F}"/>
              </a:ext>
            </a:extLst>
          </p:cNvPr>
          <p:cNvSpPr/>
          <p:nvPr/>
        </p:nvSpPr>
        <p:spPr>
          <a:xfrm>
            <a:off x="7452360" y="28346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B57625F9-4B6D-409F-8F16-773D253D4504}"/>
              </a:ext>
            </a:extLst>
          </p:cNvPr>
          <p:cNvSpPr/>
          <p:nvPr/>
        </p:nvSpPr>
        <p:spPr>
          <a:xfrm>
            <a:off x="8366760" y="28346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détection actives</a:t>
            </a:r>
            <a:endParaRPr lang="en-US" sz="11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1454DAA4-6E81-4512-B162-D1B0B91AA003}"/>
              </a:ext>
            </a:extLst>
          </p:cNvPr>
          <p:cNvSpPr/>
          <p:nvPr/>
        </p:nvSpPr>
        <p:spPr>
          <a:xfrm>
            <a:off x="7269480" y="3749040"/>
            <a:ext cx="4114800" cy="7772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EC5B54F4-DABB-4A29-9D92-11D3B6E71FC9}"/>
              </a:ext>
            </a:extLst>
          </p:cNvPr>
          <p:cNvSpPr/>
          <p:nvPr/>
        </p:nvSpPr>
        <p:spPr>
          <a:xfrm>
            <a:off x="7452360" y="3749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94FB1954-6AF0-47DE-AA54-00093321FE71}"/>
              </a:ext>
            </a:extLst>
          </p:cNvPr>
          <p:cNvSpPr/>
          <p:nvPr/>
        </p:nvSpPr>
        <p:spPr>
          <a:xfrm>
            <a:off x="8366760" y="3749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de production (2 règles × 2 sinks)</a:t>
            </a:r>
            <a:endParaRPr lang="en-US" sz="115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70FBE98-B516-4D0D-97AA-DC67379A14A7}"/>
              </a:ext>
            </a:extLst>
          </p:cNvPr>
          <p:cNvSpPr/>
          <p:nvPr/>
        </p:nvSpPr>
        <p:spPr>
          <a:xfrm>
            <a:off x="7269480" y="4663440"/>
            <a:ext cx="4114800" cy="7772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EF190BA9-3A4C-4DD2-B479-8D901EE00066}"/>
              </a:ext>
            </a:extLst>
          </p:cNvPr>
          <p:cNvSpPr/>
          <p:nvPr/>
        </p:nvSpPr>
        <p:spPr>
          <a:xfrm>
            <a:off x="7452360" y="46634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24EC4E04-B196-4093-AA23-E2987F27BEFE}"/>
              </a:ext>
            </a:extLst>
          </p:cNvPr>
          <p:cNvSpPr/>
          <p:nvPr/>
        </p:nvSpPr>
        <p:spPr>
          <a:xfrm>
            <a:off x="8366760" y="46634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Grafana en production</a:t>
            </a:r>
            <a:endParaRPr lang="en-US" sz="115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DE82746A-0F2E-426A-9334-47E4C8F8BEA1}"/>
              </a:ext>
            </a:extLst>
          </p:cNvPr>
          <p:cNvSpPr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Polytechnique de Thiès — WaveGuard, Projet Final Big Data 2025-2026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83176"/>
          </a:solidFill>
        </p:spPr>
      </p:sp>
      <p:sp>
        <p:nvSpPr>
          <p:cNvPr id="4" name="Shape 2"/>
          <p:cNvSpPr/>
          <p:nvPr/>
        </p:nvSpPr>
        <p:spPr>
          <a:xfrm>
            <a:off x="-548640" y="4937760"/>
            <a:ext cx="2377440" cy="2377440"/>
          </a:xfrm>
          <a:prstGeom prst="ellipse">
            <a:avLst/>
          </a:prstGeom>
          <a:solidFill>
            <a:srgbClr val="323C86"/>
          </a:solidFill>
        </p:spPr>
      </p:sp>
      <p:sp>
        <p:nvSpPr>
          <p:cNvPr id="5" name="Text 3"/>
          <p:cNvSpPr/>
          <p:nvPr/>
        </p:nvSpPr>
        <p:spPr>
          <a:xfrm>
            <a:off x="822960" y="237744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Merci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7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WaveGuard — Fatou CAMARA — EPT / MILIA — Big Data 2025-2026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1425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1053</Words>
  <Application>Microsoft Office PowerPoint</Application>
  <PresentationFormat>Grand écran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Fatou CAMARA</cp:lastModifiedBy>
  <cp:revision>12</cp:revision>
  <dcterms:created xsi:type="dcterms:W3CDTF">2026-07-23T14:23:00Z</dcterms:created>
  <dcterms:modified xsi:type="dcterms:W3CDTF">2026-08-12T18:58:57Z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D8EBD7DDB3A6496F9636F3C3D7CE80D2_12</vt:lpwstr>
  </property>
  <property fmtid="{D5CDD505-2E9C-101B-9397-08002B2CF9AE}" pid="3" name="KSOProductBuildVer">
    <vt:lpwstr>1036-12.1.0.28032</vt:lpwstr>
  </property>
</Properties>
</file>